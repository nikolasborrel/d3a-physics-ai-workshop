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6"/>
    <p:sldMasterId id="214748366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5143500" cx="9144000"/>
  <p:notesSz cx="6858000" cy="9144000"/>
  <p:embeddedFontLst>
    <p:embeddedFont>
      <p:font typeface="Ubuntu"/>
      <p:regular r:id="rId22"/>
      <p:bold r:id="rId23"/>
      <p:italic r:id="rId24"/>
      <p:boldItalic r:id="rId25"/>
    </p:embeddedFont>
    <p:embeddedFont>
      <p:font typeface="Ubuntu Light"/>
      <p:regular r:id="rId26"/>
      <p:bold r:id="rId27"/>
      <p:italic r:id="rId28"/>
      <p:boldItalic r:id="rId29"/>
    </p:embeddedFont>
    <p:embeddedFont>
      <p:font typeface="Proxima Nova"/>
      <p:regular r:id="rId30"/>
      <p:bold r:id="rId31"/>
      <p:italic r:id="rId32"/>
      <p:boldItalic r:id="rId33"/>
    </p:embeddedFont>
    <p:embeddedFont>
      <p:font typeface="Inconsolata"/>
      <p:regular r:id="rId34"/>
      <p:bold r:id="rId35"/>
    </p:embeddedFont>
    <p:embeddedFont>
      <p:font typeface="Proxima Nova Semibold"/>
      <p:regular r:id="rId36"/>
      <p:bold r:id="rId37"/>
      <p:boldItalic r:id="rId38"/>
    </p:embeddedFont>
    <p:embeddedFont>
      <p:font typeface="Helvetica Neue"/>
      <p:regular r:id="rId39"/>
      <p:bold r:id="rId40"/>
      <p:italic r:id="rId41"/>
      <p:boldItalic r:id="rId42"/>
    </p:embeddedFont>
    <p:embeddedFont>
      <p:font typeface="Nunito Sans SemiBold"/>
      <p:regular r:id="rId43"/>
      <p:bold r:id="rId44"/>
      <p:italic r:id="rId45"/>
      <p:boldItalic r:id="rId46"/>
    </p:embeddedFont>
    <p:embeddedFont>
      <p:font typeface="Roboto Light"/>
      <p:regular r:id="rId47"/>
      <p:bold r:id="rId48"/>
      <p:italic r:id="rId49"/>
      <p:boldItalic r:id="rId50"/>
    </p:embeddedFont>
    <p:embeddedFont>
      <p:font typeface="Roboto"/>
      <p:regular r:id="rId51"/>
      <p:bold r:id="rId52"/>
      <p:italic r:id="rId53"/>
      <p:boldItalic r:id="rId54"/>
    </p:embeddedFont>
    <p:embeddedFont>
      <p:font typeface="Montserrat"/>
      <p:regular r:id="rId55"/>
      <p:bold r:id="rId56"/>
      <p:italic r:id="rId57"/>
      <p:boldItalic r:id="rId58"/>
    </p:embeddedFont>
    <p:embeddedFont>
      <p:font typeface="Lato"/>
      <p:regular r:id="rId59"/>
      <p:bold r:id="rId60"/>
      <p:italic r:id="rId61"/>
      <p:boldItalic r:id="rId62"/>
    </p:embeddedFont>
    <p:embeddedFont>
      <p:font typeface="Lato Light"/>
      <p:regular r:id="rId63"/>
      <p:bold r:id="rId64"/>
      <p:italic r:id="rId65"/>
      <p:boldItalic r:id="rId66"/>
    </p:embeddedFont>
    <p:embeddedFont>
      <p:font typeface="Rubik"/>
      <p:regular r:id="rId67"/>
      <p:bold r:id="rId68"/>
      <p:italic r:id="rId69"/>
      <p:boldItalic r:id="rId70"/>
    </p:embeddedFont>
    <p:embeddedFont>
      <p:font typeface="Helvetica Neue Light"/>
      <p:regular r:id="rId71"/>
      <p:bold r:id="rId72"/>
      <p:italic r:id="rId73"/>
      <p:boldItalic r:id="rId74"/>
    </p:embeddedFont>
    <p:embeddedFont>
      <p:font typeface="Nunito Sans"/>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28">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Dion Häfner"/>
  <p:cmAuthor clrIdx="1" id="1" initials="" lastIdx="2" name="Nikolas Borrel-Jensen"/>
  <p:cmAuthor clrIdx="2" id="2" initials="" lastIdx="1" name="apek@dtu.dk"/>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76B2B0-73CC-48BB-86DB-68C2D3C3028D}">
  <a:tblStyle styleId="{8E76B2B0-73CC-48BB-86DB-68C2D3C302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42" Type="http://schemas.openxmlformats.org/officeDocument/2006/relationships/font" Target="fonts/HelveticaNeue-boldItalic.fntdata"/><Relationship Id="rId41" Type="http://schemas.openxmlformats.org/officeDocument/2006/relationships/font" Target="fonts/HelveticaNeue-italic.fntdata"/><Relationship Id="rId44" Type="http://schemas.openxmlformats.org/officeDocument/2006/relationships/font" Target="fonts/NunitoSansSemiBold-bold.fntdata"/><Relationship Id="rId43" Type="http://schemas.openxmlformats.org/officeDocument/2006/relationships/font" Target="fonts/NunitoSansSemiBold-regular.fntdata"/><Relationship Id="rId46" Type="http://schemas.openxmlformats.org/officeDocument/2006/relationships/font" Target="fonts/NunitoSansSemiBold-boldItalic.fntdata"/><Relationship Id="rId45" Type="http://schemas.openxmlformats.org/officeDocument/2006/relationships/font" Target="fonts/NunitoSa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Light-bold.fntdata"/><Relationship Id="rId47" Type="http://schemas.openxmlformats.org/officeDocument/2006/relationships/font" Target="fonts/RobotoLight-regular.fntdata"/><Relationship Id="rId49" Type="http://schemas.openxmlformats.org/officeDocument/2006/relationships/font" Target="fonts/RobotoLight-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font" Target="fonts/HelveticaNeueLight-italic.fntdata"/><Relationship Id="rId72" Type="http://schemas.openxmlformats.org/officeDocument/2006/relationships/font" Target="fonts/HelveticaNeueLight-bold.fntdata"/><Relationship Id="rId31" Type="http://schemas.openxmlformats.org/officeDocument/2006/relationships/font" Target="fonts/ProximaNova-bold.fntdata"/><Relationship Id="rId75" Type="http://schemas.openxmlformats.org/officeDocument/2006/relationships/font" Target="fonts/NunitoSans-regular.fntdata"/><Relationship Id="rId30" Type="http://schemas.openxmlformats.org/officeDocument/2006/relationships/font" Target="fonts/ProximaNova-regular.fntdata"/><Relationship Id="rId74" Type="http://schemas.openxmlformats.org/officeDocument/2006/relationships/font" Target="fonts/HelveticaNeueLight-boldItalic.fntdata"/><Relationship Id="rId33" Type="http://schemas.openxmlformats.org/officeDocument/2006/relationships/font" Target="fonts/ProximaNova-boldItalic.fntdata"/><Relationship Id="rId77" Type="http://schemas.openxmlformats.org/officeDocument/2006/relationships/font" Target="fonts/NunitoSans-italic.fntdata"/><Relationship Id="rId32" Type="http://schemas.openxmlformats.org/officeDocument/2006/relationships/font" Target="fonts/ProximaNova-italic.fntdata"/><Relationship Id="rId76" Type="http://schemas.openxmlformats.org/officeDocument/2006/relationships/font" Target="fonts/NunitoSans-bold.fntdata"/><Relationship Id="rId35" Type="http://schemas.openxmlformats.org/officeDocument/2006/relationships/font" Target="fonts/Inconsolata-bold.fntdata"/><Relationship Id="rId34" Type="http://schemas.openxmlformats.org/officeDocument/2006/relationships/font" Target="fonts/Inconsolata-regular.fntdata"/><Relationship Id="rId78" Type="http://schemas.openxmlformats.org/officeDocument/2006/relationships/font" Target="fonts/NunitoSans-boldItalic.fntdata"/><Relationship Id="rId71" Type="http://schemas.openxmlformats.org/officeDocument/2006/relationships/font" Target="fonts/HelveticaNeueLight-regular.fntdata"/><Relationship Id="rId70" Type="http://schemas.openxmlformats.org/officeDocument/2006/relationships/font" Target="fonts/Rubik-boldItalic.fntdata"/><Relationship Id="rId37" Type="http://schemas.openxmlformats.org/officeDocument/2006/relationships/font" Target="fonts/ProximaNovaSemibold-bold.fntdata"/><Relationship Id="rId36" Type="http://schemas.openxmlformats.org/officeDocument/2006/relationships/font" Target="fonts/ProximaNovaSemibold-regular.fntdata"/><Relationship Id="rId39" Type="http://schemas.openxmlformats.org/officeDocument/2006/relationships/font" Target="fonts/HelveticaNeue-regular.fntdata"/><Relationship Id="rId38" Type="http://schemas.openxmlformats.org/officeDocument/2006/relationships/font" Target="fonts/ProximaNovaSemibold-boldItalic.fntdata"/><Relationship Id="rId62" Type="http://schemas.openxmlformats.org/officeDocument/2006/relationships/font" Target="fonts/Lato-boldItalic.fntdata"/><Relationship Id="rId61" Type="http://schemas.openxmlformats.org/officeDocument/2006/relationships/font" Target="fonts/Lato-italic.fntdata"/><Relationship Id="rId20" Type="http://schemas.openxmlformats.org/officeDocument/2006/relationships/slide" Target="slides/slide12.xml"/><Relationship Id="rId64" Type="http://schemas.openxmlformats.org/officeDocument/2006/relationships/font" Target="fonts/LatoLight-bold.fntdata"/><Relationship Id="rId63" Type="http://schemas.openxmlformats.org/officeDocument/2006/relationships/font" Target="fonts/LatoLight-regular.fntdata"/><Relationship Id="rId22" Type="http://schemas.openxmlformats.org/officeDocument/2006/relationships/font" Target="fonts/Ubuntu-regular.fntdata"/><Relationship Id="rId66" Type="http://schemas.openxmlformats.org/officeDocument/2006/relationships/font" Target="fonts/LatoLight-boldItalic.fntdata"/><Relationship Id="rId21" Type="http://schemas.openxmlformats.org/officeDocument/2006/relationships/slide" Target="slides/slide13.xml"/><Relationship Id="rId65" Type="http://schemas.openxmlformats.org/officeDocument/2006/relationships/font" Target="fonts/LatoLight-italic.fntdata"/><Relationship Id="rId24" Type="http://schemas.openxmlformats.org/officeDocument/2006/relationships/font" Target="fonts/Ubuntu-italic.fntdata"/><Relationship Id="rId68" Type="http://schemas.openxmlformats.org/officeDocument/2006/relationships/font" Target="fonts/Rubik-bold.fntdata"/><Relationship Id="rId23" Type="http://schemas.openxmlformats.org/officeDocument/2006/relationships/font" Target="fonts/Ubuntu-bold.fntdata"/><Relationship Id="rId67" Type="http://schemas.openxmlformats.org/officeDocument/2006/relationships/font" Target="fonts/Rubik-regular.fntdata"/><Relationship Id="rId60" Type="http://schemas.openxmlformats.org/officeDocument/2006/relationships/font" Target="fonts/Lato-bold.fntdata"/><Relationship Id="rId26" Type="http://schemas.openxmlformats.org/officeDocument/2006/relationships/font" Target="fonts/UbuntuLight-regular.fntdata"/><Relationship Id="rId25" Type="http://schemas.openxmlformats.org/officeDocument/2006/relationships/font" Target="fonts/Ubuntu-boldItalic.fntdata"/><Relationship Id="rId69" Type="http://schemas.openxmlformats.org/officeDocument/2006/relationships/font" Target="fonts/Rubik-italic.fntdata"/><Relationship Id="rId28" Type="http://schemas.openxmlformats.org/officeDocument/2006/relationships/font" Target="fonts/UbuntuLight-italic.fntdata"/><Relationship Id="rId27" Type="http://schemas.openxmlformats.org/officeDocument/2006/relationships/font" Target="fonts/UbuntuLight-bold.fntdata"/><Relationship Id="rId29" Type="http://schemas.openxmlformats.org/officeDocument/2006/relationships/font" Target="fonts/UbuntuLight-boldItalic.fntdata"/><Relationship Id="rId51" Type="http://schemas.openxmlformats.org/officeDocument/2006/relationships/font" Target="fonts/Roboto-regular.fntdata"/><Relationship Id="rId50" Type="http://schemas.openxmlformats.org/officeDocument/2006/relationships/font" Target="fonts/RobotoLight-boldItalic.fntdata"/><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3.xml"/><Relationship Id="rId55" Type="http://schemas.openxmlformats.org/officeDocument/2006/relationships/font" Target="fonts/Montserrat-regular.fntdata"/><Relationship Id="rId10" Type="http://schemas.openxmlformats.org/officeDocument/2006/relationships/slide" Target="slides/slide2.xml"/><Relationship Id="rId54" Type="http://schemas.openxmlformats.org/officeDocument/2006/relationships/font" Target="fonts/Roboto-boldItalic.fntdata"/><Relationship Id="rId13" Type="http://schemas.openxmlformats.org/officeDocument/2006/relationships/slide" Target="slides/slide5.xml"/><Relationship Id="rId57" Type="http://schemas.openxmlformats.org/officeDocument/2006/relationships/font" Target="fonts/Montserrat-italic.fntdata"/><Relationship Id="rId12" Type="http://schemas.openxmlformats.org/officeDocument/2006/relationships/slide" Target="slides/slide4.xml"/><Relationship Id="rId56" Type="http://schemas.openxmlformats.org/officeDocument/2006/relationships/font" Target="fonts/Montserrat-bold.fntdata"/><Relationship Id="rId15" Type="http://schemas.openxmlformats.org/officeDocument/2006/relationships/slide" Target="slides/slide7.xml"/><Relationship Id="rId59" Type="http://schemas.openxmlformats.org/officeDocument/2006/relationships/font" Target="fonts/Lato-regular.fntdata"/><Relationship Id="rId14" Type="http://schemas.openxmlformats.org/officeDocument/2006/relationships/slide" Target="slides/slide6.xml"/><Relationship Id="rId58" Type="http://schemas.openxmlformats.org/officeDocument/2006/relationships/font" Target="fonts/Montserrat-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7T19:51:50.766">
    <p:pos x="259" y="144"/>
    <p:text>Consider adding a slide teasing everything you're NOT talking about today – physics-guided diffusion, equivariant NNs, PINNs in all variants, physics foundation models a la walrus, learned closures and solver-in-the-loop, ...</p:text>
  </p:cm>
  <p:cm authorId="1" idx="1" dt="2026-10-07T13:59:58.978">
    <p:pos x="259" y="144"/>
    <p:text>I'm hesitant to mention areas I don't know about and will not have the time to get the overview now. I will say it out loud that this presentation is only covering slice of the landscape
1 total reaction
apek@dtu.dk reacted with 👍 at 10/07/2026, 7:51 PM UTC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07T13:12:22.885">
    <p:pos x="259" y="542"/>
    <p:text>Lead with session titles instead of people names</p:text>
  </p:cm>
  <p:cm authorId="0" idx="3" dt="2026-10-07T13:17:58.025">
    <p:pos x="259" y="642"/>
    <p:text>Reads like a non sequitur, could be separate points (the latter potentially being "the complexity is in the geometry" or so)</p:text>
  </p:cm>
  <p:cm authorId="0" idx="4" dt="2026-10-07T13:18:39.649">
    <p:pos x="259" y="742"/>
    <p:text>Or more generically, "many successful SciML methods are inspired by what made solvers great"? It's not like we expect people to know all about RWR after the session.</p:text>
  </p:cm>
  <p:cm authorId="2" idx="1" dt="2026-10-07T21:15:54.698">
    <p:pos x="259" y="842"/>
    <p:text>define RWR ?</p:text>
  </p:cm>
  <p:cm authorId="1" idx="2" dt="2026-10-07T21:15:54.698">
    <p:pos x="259" y="842"/>
    <p:text>Yes, I forgot, have defined it on previous slides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73b8317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73b8317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Roboto Light"/>
              <a:ea typeface="Roboto Light"/>
              <a:cs typeface="Roboto Light"/>
              <a:sym typeface="Roboto 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737a83319ac952e4_0_1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737a83319ac952e4_0_13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h737a83319ac952e4_0_13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78710a25b_3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d78710a25b_3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78710a25b_3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2e3cf2881187c512_3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h2e3cf2881187c512_3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h2e3cf2881187c512_3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2f25fda4c0a55a5_1_4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2f25fda4c0a55a5_1_43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rPr lang="en"/>
              <a:t>C_d is how hard the air pushes the car back, C_l how hard it lifts it, and C_m how it shares that lift between the front and rear wheels.</a:t>
            </a:r>
            <a:endParaRPr/>
          </a:p>
        </p:txBody>
      </p:sp>
      <p:sp>
        <p:nvSpPr>
          <p:cNvPr id="126" name="Google Shape;126;h2f25fda4c0a55a5_1_43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37209fcf4de8d705_0_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h37209fcf4de8d705_0_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C_d is how hard the air pushes the car back, C_l how hard it lifts it, and C_m how it shares that lift between the front and rear wheels.</a:t>
            </a:r>
            <a:endParaRPr/>
          </a:p>
        </p:txBody>
      </p:sp>
      <p:sp>
        <p:nvSpPr>
          <p:cNvPr id="142" name="Google Shape;142;h37209fcf4de8d705_0_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2f25fda4c0a55a5_1_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h2f25fda4c0a55a5_1_2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h2f25fda4c0a55a5_1_2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2f25fda4c0a55a5_1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h2f25fda4c0a55a5_1_1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AutoNum type="alphaLcParenBoth"/>
            </a:pPr>
            <a:r>
              <a:rPr lang="en"/>
              <a:t>S</a:t>
            </a:r>
            <a:r>
              <a:rPr lang="en"/>
              <a:t>tart from input u. 1. Lift to a higher dimension channel space by a neural network P. 2. Apply four layers of integral operators and activation functions. 3. Project back to the target dimension by a neural network Q. Output G(u). </a:t>
            </a:r>
            <a:endParaRPr/>
          </a:p>
          <a:p>
            <a:pPr indent="-298450" lvl="0" marL="457200" rtl="0" algn="l">
              <a:spcBef>
                <a:spcPts val="0"/>
              </a:spcBef>
              <a:spcAft>
                <a:spcPts val="0"/>
              </a:spcAft>
              <a:buSzPts val="1100"/>
              <a:buAutoNum type="alphaLcParenBoth"/>
            </a:pPr>
            <a:r>
              <a:rPr lang="en"/>
              <a:t>Fourier layers: Start from input v. On top: apply the Fourier transform F; a linear transform R on the lower Fourier modes and filters out the higher modes;  then apply the inverse Fourier transform F −1. On the bottom: apply a local linear transform W .</a:t>
            </a:r>
            <a:endParaRPr/>
          </a:p>
        </p:txBody>
      </p:sp>
      <p:sp>
        <p:nvSpPr>
          <p:cNvPr id="237" name="Google Shape;237;h2f25fda4c0a55a5_1_1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2f25fda4c0a55a5_1_1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h2f25fda4c0a55a5_1_1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h2f25fda4c0a55a5_1_1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2f25fda4c0a55a5_1_1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h2f25fda4c0a55a5_1_16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h2f25fda4c0a55a5_1_16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h2f25fda4c0a55a5_1_222:notes"/>
          <p:cNvSpPr/>
          <p:nvPr>
            <p:ph idx="2" type="sldImg"/>
          </p:nvPr>
        </p:nvSpPr>
        <p:spPr>
          <a:xfrm>
            <a:off x="381000" y="514350"/>
            <a:ext cx="6096000" cy="25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h2f25fda4c0a55a5_1_222:notes"/>
          <p:cNvSpPr txBox="1"/>
          <p:nvPr>
            <p:ph idx="1" type="body"/>
          </p:nvPr>
        </p:nvSpPr>
        <p:spPr>
          <a:xfrm>
            <a:off x="685800" y="3257550"/>
            <a:ext cx="5486400" cy="3086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1100"/>
              </a:spcBef>
              <a:spcAft>
                <a:spcPts val="0"/>
              </a:spcAft>
              <a:buNone/>
            </a:pPr>
            <a:r>
              <a:rPr lang="en" sz="1200">
                <a:solidFill>
                  <a:schemeClr val="dk1"/>
                </a:solidFill>
              </a:rPr>
              <a:t>RWR interleaves latent attention with message-passing relaxation  under a unified configuration.</a:t>
            </a:r>
            <a:br>
              <a:rPr lang="en" sz="1200">
                <a:solidFill>
                  <a:schemeClr val="dk1"/>
                </a:solidFill>
              </a:rPr>
            </a:br>
            <a:endParaRPr sz="1200">
              <a:solidFill>
                <a:schemeClr val="dk1"/>
              </a:solidFill>
            </a:endParaRPr>
          </a:p>
          <a:p>
            <a:pPr indent="0" lvl="0" marL="0" rtl="0" algn="l">
              <a:lnSpc>
                <a:spcPct val="120000"/>
              </a:lnSpc>
              <a:spcBef>
                <a:spcPts val="1100"/>
              </a:spcBef>
              <a:spcAft>
                <a:spcPts val="0"/>
              </a:spcAft>
              <a:buNone/>
            </a:pPr>
            <a:r>
              <a:rPr lang="en" sz="1200">
                <a:solidFill>
                  <a:schemeClr val="dk1"/>
                </a:solidFill>
              </a:rPr>
              <a:t>The encoder and decoder are pointwise MLPs; the processor runs m1 message-passing sweeps (relax), r read-write iterations against L persistent latent tokens, and m2 further sweeps; nB such blocks are stacked.</a:t>
            </a:r>
            <a:endParaRPr sz="1200">
              <a:solidFill>
                <a:schemeClr val="dk1"/>
              </a:solidFill>
            </a:endParaRPr>
          </a:p>
          <a:p>
            <a:pPr indent="0" lvl="0" marL="0" rtl="0" algn="l">
              <a:lnSpc>
                <a:spcPct val="120000"/>
              </a:lnSpc>
              <a:spcBef>
                <a:spcPts val="1100"/>
              </a:spcBef>
              <a:spcAft>
                <a:spcPts val="0"/>
              </a:spcAft>
              <a:buNone/>
            </a:pPr>
            <a:r>
              <a:rPr lang="en" sz="1100">
                <a:solidFill>
                  <a:srgbClr val="141A3A"/>
                </a:solidFill>
                <a:latin typeface="Lato"/>
                <a:ea typeface="Lato"/>
                <a:cs typeface="Lato"/>
                <a:sym typeface="Lato"/>
              </a:rPr>
              <a:t>By interleaving blocks of message passing and latent attention repeatedly, it allows opportunity for information to propagate over the entire mesh while also appropriately resolving it at the desired accuracy.</a:t>
            </a:r>
            <a:endParaRPr sz="1100">
              <a:solidFill>
                <a:srgbClr val="141A3A"/>
              </a:solidFill>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737a83319ac952e4_0_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h737a83319ac952e4_0_4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C_d is how hard the air pushes the car back, C_l how hard it lifts it, and C_m how it shares that lift between the front and rear wheels.</a:t>
            </a:r>
            <a:endParaRPr/>
          </a:p>
        </p:txBody>
      </p:sp>
      <p:sp>
        <p:nvSpPr>
          <p:cNvPr id="312" name="Google Shape;312;h737a83319ac952e4_0_4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737a83319ac952e4_0_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h737a83319ac952e4_0_7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h737a83319ac952e4_0_7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Font typeface="Montserrat"/>
              <a:buNone/>
              <a:defRPr sz="5200">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Inconsolata"/>
              <a:buNone/>
              <a:defRPr sz="2800">
                <a:latin typeface="Inconsolata"/>
                <a:ea typeface="Inconsolata"/>
                <a:cs typeface="Inconsolata"/>
                <a:sym typeface="Inconsolat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1">
    <p:spTree>
      <p:nvGrpSpPr>
        <p:cNvPr id="50" name="Shape 50"/>
        <p:cNvGrpSpPr/>
        <p:nvPr/>
      </p:nvGrpSpPr>
      <p:grpSpPr>
        <a:xfrm>
          <a:off x="0" y="0"/>
          <a:ext cx="0" cy="0"/>
          <a:chOff x="0" y="0"/>
          <a:chExt cx="0" cy="0"/>
        </a:xfrm>
      </p:grpSpPr>
      <p:sp>
        <p:nvSpPr>
          <p:cNvPr id="51" name="Google Shape;51;p13"/>
          <p:cNvSpPr txBox="1"/>
          <p:nvPr>
            <p:ph type="title"/>
          </p:nvPr>
        </p:nvSpPr>
        <p:spPr>
          <a:xfrm>
            <a:off x="666750" y="862013"/>
            <a:ext cx="7810500" cy="1743000"/>
          </a:xfrm>
          <a:prstGeom prst="rect">
            <a:avLst/>
          </a:prstGeom>
          <a:noFill/>
          <a:ln>
            <a:noFill/>
          </a:ln>
        </p:spPr>
        <p:txBody>
          <a:bodyPr anchorCtr="0" anchor="b" bIns="19050" lIns="19050" spcFirstLastPara="1" rIns="19050" wrap="square" tIns="19050">
            <a:noAutofit/>
          </a:bodyPr>
          <a:lstStyle>
            <a:lvl1pPr lvl="0" algn="ctr">
              <a:lnSpc>
                <a:spcPct val="100000"/>
              </a:lnSpc>
              <a:spcBef>
                <a:spcPts val="0"/>
              </a:spcBef>
              <a:spcAft>
                <a:spcPts val="0"/>
              </a:spcAft>
              <a:buClr>
                <a:srgbClr val="000000"/>
              </a:buClr>
              <a:buSzPts val="700"/>
              <a:buNone/>
              <a:defRPr sz="500"/>
            </a:lvl1pPr>
            <a:lvl2pPr lvl="1" algn="ctr">
              <a:lnSpc>
                <a:spcPct val="100000"/>
              </a:lnSpc>
              <a:spcBef>
                <a:spcPts val="0"/>
              </a:spcBef>
              <a:spcAft>
                <a:spcPts val="0"/>
              </a:spcAft>
              <a:buClr>
                <a:srgbClr val="000000"/>
              </a:buClr>
              <a:buSzPts val="700"/>
              <a:buNone/>
              <a:defRPr sz="500"/>
            </a:lvl2pPr>
            <a:lvl3pPr lvl="2" algn="ctr">
              <a:lnSpc>
                <a:spcPct val="100000"/>
              </a:lnSpc>
              <a:spcBef>
                <a:spcPts val="0"/>
              </a:spcBef>
              <a:spcAft>
                <a:spcPts val="0"/>
              </a:spcAft>
              <a:buClr>
                <a:srgbClr val="000000"/>
              </a:buClr>
              <a:buSzPts val="700"/>
              <a:buNone/>
              <a:defRPr sz="500"/>
            </a:lvl3pPr>
            <a:lvl4pPr lvl="3" algn="ctr">
              <a:lnSpc>
                <a:spcPct val="100000"/>
              </a:lnSpc>
              <a:spcBef>
                <a:spcPts val="0"/>
              </a:spcBef>
              <a:spcAft>
                <a:spcPts val="0"/>
              </a:spcAft>
              <a:buClr>
                <a:srgbClr val="000000"/>
              </a:buClr>
              <a:buSzPts val="700"/>
              <a:buNone/>
              <a:defRPr sz="500"/>
            </a:lvl4pPr>
            <a:lvl5pPr lvl="4" algn="ctr">
              <a:lnSpc>
                <a:spcPct val="100000"/>
              </a:lnSpc>
              <a:spcBef>
                <a:spcPts val="0"/>
              </a:spcBef>
              <a:spcAft>
                <a:spcPts val="0"/>
              </a:spcAft>
              <a:buClr>
                <a:srgbClr val="000000"/>
              </a:buClr>
              <a:buSzPts val="700"/>
              <a:buNone/>
              <a:defRPr sz="500"/>
            </a:lvl5pPr>
            <a:lvl6pPr lvl="5" algn="ctr">
              <a:lnSpc>
                <a:spcPct val="100000"/>
              </a:lnSpc>
              <a:spcBef>
                <a:spcPts val="0"/>
              </a:spcBef>
              <a:spcAft>
                <a:spcPts val="0"/>
              </a:spcAft>
              <a:buClr>
                <a:srgbClr val="000000"/>
              </a:buClr>
              <a:buSzPts val="700"/>
              <a:buNone/>
              <a:defRPr sz="500"/>
            </a:lvl6pPr>
            <a:lvl7pPr lvl="6" algn="ctr">
              <a:lnSpc>
                <a:spcPct val="100000"/>
              </a:lnSpc>
              <a:spcBef>
                <a:spcPts val="0"/>
              </a:spcBef>
              <a:spcAft>
                <a:spcPts val="0"/>
              </a:spcAft>
              <a:buClr>
                <a:srgbClr val="000000"/>
              </a:buClr>
              <a:buSzPts val="700"/>
              <a:buNone/>
              <a:defRPr sz="500"/>
            </a:lvl7pPr>
            <a:lvl8pPr lvl="7" algn="ctr">
              <a:lnSpc>
                <a:spcPct val="100000"/>
              </a:lnSpc>
              <a:spcBef>
                <a:spcPts val="0"/>
              </a:spcBef>
              <a:spcAft>
                <a:spcPts val="0"/>
              </a:spcAft>
              <a:buClr>
                <a:srgbClr val="000000"/>
              </a:buClr>
              <a:buSzPts val="700"/>
              <a:buNone/>
              <a:defRPr sz="500"/>
            </a:lvl8pPr>
            <a:lvl9pPr lvl="8" algn="ctr">
              <a:lnSpc>
                <a:spcPct val="100000"/>
              </a:lnSpc>
              <a:spcBef>
                <a:spcPts val="0"/>
              </a:spcBef>
              <a:spcAft>
                <a:spcPts val="0"/>
              </a:spcAft>
              <a:buClr>
                <a:srgbClr val="000000"/>
              </a:buClr>
              <a:buSzPts val="700"/>
              <a:buNone/>
              <a:defRPr sz="500"/>
            </a:lvl9pPr>
          </a:lstStyle>
          <a:p/>
        </p:txBody>
      </p:sp>
      <p:sp>
        <p:nvSpPr>
          <p:cNvPr id="52" name="Google Shape;52;p13"/>
          <p:cNvSpPr txBox="1"/>
          <p:nvPr>
            <p:ph idx="1" type="body"/>
          </p:nvPr>
        </p:nvSpPr>
        <p:spPr>
          <a:xfrm>
            <a:off x="666750" y="2652713"/>
            <a:ext cx="7810500" cy="595200"/>
          </a:xfrm>
          <a:prstGeom prst="rect">
            <a:avLst/>
          </a:prstGeom>
          <a:noFill/>
          <a:ln>
            <a:noFill/>
          </a:ln>
        </p:spPr>
        <p:txBody>
          <a:bodyPr anchorCtr="0" anchor="t" bIns="19050" lIns="19050" spcFirstLastPara="1" rIns="19050" wrap="square" tIns="19050">
            <a:noAutofit/>
          </a:bodyPr>
          <a:lstStyle>
            <a:lvl1pPr indent="-228600" lvl="0" marL="457200" algn="ctr">
              <a:lnSpc>
                <a:spcPct val="100000"/>
              </a:lnSpc>
              <a:spcBef>
                <a:spcPts val="0"/>
              </a:spcBef>
              <a:spcAft>
                <a:spcPts val="0"/>
              </a:spcAft>
              <a:buClr>
                <a:srgbClr val="000000"/>
              </a:buClr>
              <a:buSzPts val="2000"/>
              <a:buFont typeface="Helvetica Neue"/>
              <a:buNone/>
              <a:defRPr sz="2000"/>
            </a:lvl1pPr>
            <a:lvl2pPr indent="-228600" lvl="1" marL="914400" algn="ctr">
              <a:lnSpc>
                <a:spcPct val="100000"/>
              </a:lnSpc>
              <a:spcBef>
                <a:spcPts val="0"/>
              </a:spcBef>
              <a:spcAft>
                <a:spcPts val="0"/>
              </a:spcAft>
              <a:buClr>
                <a:srgbClr val="000000"/>
              </a:buClr>
              <a:buSzPts val="2000"/>
              <a:buFont typeface="Helvetica Neue"/>
              <a:buNone/>
              <a:defRPr sz="2000"/>
            </a:lvl2pPr>
            <a:lvl3pPr indent="-228600" lvl="2" marL="1371600" algn="ctr">
              <a:lnSpc>
                <a:spcPct val="100000"/>
              </a:lnSpc>
              <a:spcBef>
                <a:spcPts val="0"/>
              </a:spcBef>
              <a:spcAft>
                <a:spcPts val="0"/>
              </a:spcAft>
              <a:buClr>
                <a:srgbClr val="000000"/>
              </a:buClr>
              <a:buSzPts val="2000"/>
              <a:buFont typeface="Helvetica Neue"/>
              <a:buNone/>
              <a:defRPr sz="2000"/>
            </a:lvl3pPr>
            <a:lvl4pPr indent="-228600" lvl="3" marL="1828800" algn="ctr">
              <a:lnSpc>
                <a:spcPct val="100000"/>
              </a:lnSpc>
              <a:spcBef>
                <a:spcPts val="0"/>
              </a:spcBef>
              <a:spcAft>
                <a:spcPts val="0"/>
              </a:spcAft>
              <a:buClr>
                <a:srgbClr val="000000"/>
              </a:buClr>
              <a:buSzPts val="2000"/>
              <a:buFont typeface="Helvetica Neue"/>
              <a:buNone/>
              <a:defRPr sz="2000"/>
            </a:lvl4pPr>
            <a:lvl5pPr indent="-228600" lvl="4" marL="2286000" algn="ctr">
              <a:lnSpc>
                <a:spcPct val="100000"/>
              </a:lnSpc>
              <a:spcBef>
                <a:spcPts val="0"/>
              </a:spcBef>
              <a:spcAft>
                <a:spcPts val="0"/>
              </a:spcAft>
              <a:buClr>
                <a:srgbClr val="000000"/>
              </a:buClr>
              <a:buSzPts val="2000"/>
              <a:buFont typeface="Helvetica Neue"/>
              <a:buNone/>
              <a:defRPr sz="2000"/>
            </a:lvl5pPr>
            <a:lvl6pPr indent="-279400" lvl="5" marL="2743200" algn="l">
              <a:lnSpc>
                <a:spcPct val="100000"/>
              </a:lnSpc>
              <a:spcBef>
                <a:spcPts val="2200"/>
              </a:spcBef>
              <a:spcAft>
                <a:spcPts val="0"/>
              </a:spcAft>
              <a:buClr>
                <a:srgbClr val="000000"/>
              </a:buClr>
              <a:buSzPts val="800"/>
              <a:buChar char="■"/>
              <a:defRPr sz="500"/>
            </a:lvl6pPr>
            <a:lvl7pPr indent="-279400" lvl="6" marL="3200400" algn="l">
              <a:lnSpc>
                <a:spcPct val="100000"/>
              </a:lnSpc>
              <a:spcBef>
                <a:spcPts val="2200"/>
              </a:spcBef>
              <a:spcAft>
                <a:spcPts val="0"/>
              </a:spcAft>
              <a:buClr>
                <a:srgbClr val="000000"/>
              </a:buClr>
              <a:buSzPts val="800"/>
              <a:buChar char="●"/>
              <a:defRPr sz="500"/>
            </a:lvl7pPr>
            <a:lvl8pPr indent="-279400" lvl="7" marL="3657600" algn="l">
              <a:lnSpc>
                <a:spcPct val="100000"/>
              </a:lnSpc>
              <a:spcBef>
                <a:spcPts val="2200"/>
              </a:spcBef>
              <a:spcAft>
                <a:spcPts val="0"/>
              </a:spcAft>
              <a:buClr>
                <a:srgbClr val="000000"/>
              </a:buClr>
              <a:buSzPts val="800"/>
              <a:buChar char="○"/>
              <a:defRPr sz="500"/>
            </a:lvl8pPr>
            <a:lvl9pPr indent="-279400" lvl="8" marL="4114800" algn="l">
              <a:lnSpc>
                <a:spcPct val="100000"/>
              </a:lnSpc>
              <a:spcBef>
                <a:spcPts val="2200"/>
              </a:spcBef>
              <a:spcAft>
                <a:spcPts val="0"/>
              </a:spcAft>
              <a:buClr>
                <a:srgbClr val="000000"/>
              </a:buClr>
              <a:buSzPts val="800"/>
              <a:buChar char="■"/>
              <a:defRPr sz="500"/>
            </a:lvl9pPr>
          </a:lstStyle>
          <a:p/>
        </p:txBody>
      </p:sp>
      <p:sp>
        <p:nvSpPr>
          <p:cNvPr id="53" name="Google Shape;53;p13"/>
          <p:cNvSpPr txBox="1"/>
          <p:nvPr>
            <p:ph idx="12" type="sldNum"/>
          </p:nvPr>
        </p:nvSpPr>
        <p:spPr>
          <a:xfrm>
            <a:off x="4484637" y="4905375"/>
            <a:ext cx="170100" cy="172800"/>
          </a:xfrm>
          <a:prstGeom prst="rect">
            <a:avLst/>
          </a:prstGeom>
          <a:noFill/>
          <a:ln>
            <a:noFill/>
          </a:ln>
        </p:spPr>
        <p:txBody>
          <a:bodyPr anchorCtr="0" anchor="t" bIns="19050" lIns="19050" spcFirstLastPara="1" rIns="19050" wrap="square" tIns="19050">
            <a:noAutofit/>
          </a:bodyPr>
          <a:lstStyle>
            <a:lvl1pPr indent="0" lvl="0"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900"/>
              <a:buFont typeface="Helvetica Neue Light"/>
              <a:buNone/>
              <a:defRPr b="0" sz="9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mplate for Series a deck">
  <p:cSld name="Standard Content">
    <p:spTree>
      <p:nvGrpSpPr>
        <p:cNvPr id="54" name="Shape 54"/>
        <p:cNvGrpSpPr/>
        <p:nvPr/>
      </p:nvGrpSpPr>
      <p:grpSpPr>
        <a:xfrm>
          <a:off x="0" y="0"/>
          <a:ext cx="0" cy="0"/>
          <a:chOff x="0" y="0"/>
          <a:chExt cx="0" cy="0"/>
        </a:xfrm>
      </p:grpSpPr>
      <p:sp>
        <p:nvSpPr>
          <p:cNvPr id="55" name="Google Shape;55;p14"/>
          <p:cNvSpPr txBox="1"/>
          <p:nvPr>
            <p:ph idx="12" type="sldNum"/>
          </p:nvPr>
        </p:nvSpPr>
        <p:spPr>
          <a:xfrm>
            <a:off x="7850188" y="4767273"/>
            <a:ext cx="900000" cy="273900"/>
          </a:xfrm>
          <a:prstGeom prst="rect">
            <a:avLst/>
          </a:prstGeom>
          <a:noFill/>
          <a:ln>
            <a:noFill/>
          </a:ln>
        </p:spPr>
        <p:txBody>
          <a:bodyPr anchorCtr="0" anchor="ctr" bIns="45700" lIns="91425" spcFirstLastPara="1" rIns="0" wrap="square" tIns="45700">
            <a:noAutofit/>
          </a:bodyPr>
          <a:lstStyle>
            <a:lvl1pPr indent="0" lvl="0" marL="0" algn="r">
              <a:spcBef>
                <a:spcPts val="0"/>
              </a:spcBef>
              <a:buNone/>
              <a:defRPr b="0" i="0" sz="800" u="none" cap="none" strike="noStrike">
                <a:solidFill>
                  <a:srgbClr val="7F7F7F"/>
                </a:solidFill>
                <a:latin typeface="Helvetica Neue"/>
                <a:ea typeface="Helvetica Neue"/>
                <a:cs typeface="Helvetica Neue"/>
                <a:sym typeface="Helvetica Neue"/>
              </a:defRPr>
            </a:lvl1pPr>
            <a:lvl2pPr indent="0" lvl="1" marL="0" algn="r">
              <a:spcBef>
                <a:spcPts val="0"/>
              </a:spcBef>
              <a:buNone/>
              <a:defRPr b="0" i="0" sz="800" u="none" cap="none" strike="noStrike">
                <a:solidFill>
                  <a:srgbClr val="7F7F7F"/>
                </a:solidFill>
                <a:latin typeface="Helvetica Neue"/>
                <a:ea typeface="Helvetica Neue"/>
                <a:cs typeface="Helvetica Neue"/>
                <a:sym typeface="Helvetica Neue"/>
              </a:defRPr>
            </a:lvl2pPr>
            <a:lvl3pPr indent="0" lvl="2" marL="0" algn="r">
              <a:spcBef>
                <a:spcPts val="0"/>
              </a:spcBef>
              <a:buNone/>
              <a:defRPr b="0" i="0" sz="800" u="none" cap="none" strike="noStrike">
                <a:solidFill>
                  <a:srgbClr val="7F7F7F"/>
                </a:solidFill>
                <a:latin typeface="Helvetica Neue"/>
                <a:ea typeface="Helvetica Neue"/>
                <a:cs typeface="Helvetica Neue"/>
                <a:sym typeface="Helvetica Neue"/>
              </a:defRPr>
            </a:lvl3pPr>
            <a:lvl4pPr indent="0" lvl="3" marL="0" algn="r">
              <a:spcBef>
                <a:spcPts val="0"/>
              </a:spcBef>
              <a:buNone/>
              <a:defRPr b="0" i="0" sz="800" u="none" cap="none" strike="noStrike">
                <a:solidFill>
                  <a:srgbClr val="7F7F7F"/>
                </a:solidFill>
                <a:latin typeface="Helvetica Neue"/>
                <a:ea typeface="Helvetica Neue"/>
                <a:cs typeface="Helvetica Neue"/>
                <a:sym typeface="Helvetica Neue"/>
              </a:defRPr>
            </a:lvl4pPr>
            <a:lvl5pPr indent="0" lvl="4" marL="0" algn="r">
              <a:spcBef>
                <a:spcPts val="0"/>
              </a:spcBef>
              <a:buNone/>
              <a:defRPr b="0" i="0" sz="800" u="none" cap="none" strike="noStrike">
                <a:solidFill>
                  <a:srgbClr val="7F7F7F"/>
                </a:solidFill>
                <a:latin typeface="Helvetica Neue"/>
                <a:ea typeface="Helvetica Neue"/>
                <a:cs typeface="Helvetica Neue"/>
                <a:sym typeface="Helvetica Neue"/>
              </a:defRPr>
            </a:lvl5pPr>
            <a:lvl6pPr indent="0" lvl="5" marL="0" algn="r">
              <a:spcBef>
                <a:spcPts val="0"/>
              </a:spcBef>
              <a:buNone/>
              <a:defRPr b="0" i="0" sz="800" u="none" cap="none" strike="noStrike">
                <a:solidFill>
                  <a:srgbClr val="7F7F7F"/>
                </a:solidFill>
                <a:latin typeface="Helvetica Neue"/>
                <a:ea typeface="Helvetica Neue"/>
                <a:cs typeface="Helvetica Neue"/>
                <a:sym typeface="Helvetica Neue"/>
              </a:defRPr>
            </a:lvl6pPr>
            <a:lvl7pPr indent="0" lvl="6" marL="0" algn="r">
              <a:spcBef>
                <a:spcPts val="0"/>
              </a:spcBef>
              <a:buNone/>
              <a:defRPr b="0" i="0" sz="800" u="none" cap="none" strike="noStrike">
                <a:solidFill>
                  <a:srgbClr val="7F7F7F"/>
                </a:solidFill>
                <a:latin typeface="Helvetica Neue"/>
                <a:ea typeface="Helvetica Neue"/>
                <a:cs typeface="Helvetica Neue"/>
                <a:sym typeface="Helvetica Neue"/>
              </a:defRPr>
            </a:lvl7pPr>
            <a:lvl8pPr indent="0" lvl="7" marL="0" algn="r">
              <a:spcBef>
                <a:spcPts val="0"/>
              </a:spcBef>
              <a:buNone/>
              <a:defRPr b="0" i="0" sz="800" u="none" cap="none" strike="noStrike">
                <a:solidFill>
                  <a:srgbClr val="7F7F7F"/>
                </a:solidFill>
                <a:latin typeface="Helvetica Neue"/>
                <a:ea typeface="Helvetica Neue"/>
                <a:cs typeface="Helvetica Neue"/>
                <a:sym typeface="Helvetica Neue"/>
              </a:defRPr>
            </a:lvl8pPr>
            <a:lvl9pPr indent="0" lvl="8" marL="0" algn="r">
              <a:spcBef>
                <a:spcPts val="0"/>
              </a:spcBef>
              <a:buNone/>
              <a:defRPr b="0" i="0" sz="800" u="none" cap="none" strike="noStrike">
                <a:solidFill>
                  <a:srgbClr val="7F7F7F"/>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txBox="1"/>
          <p:nvPr>
            <p:ph idx="1" type="body"/>
          </p:nvPr>
        </p:nvSpPr>
        <p:spPr>
          <a:xfrm>
            <a:off x="365450" y="270884"/>
            <a:ext cx="8385000" cy="336300"/>
          </a:xfrm>
          <a:prstGeom prst="rect">
            <a:avLst/>
          </a:prstGeom>
          <a:noFill/>
          <a:ln>
            <a:noFill/>
          </a:ln>
        </p:spPr>
        <p:txBody>
          <a:bodyPr anchorCtr="0" anchor="t" bIns="45700" lIns="0" spcFirstLastPara="1" rIns="91425" wrap="square" tIns="0">
            <a:noAutofit/>
          </a:bodyPr>
          <a:lstStyle>
            <a:lvl1pPr indent="-228600" lvl="0" marL="457200" algn="l">
              <a:spcBef>
                <a:spcPts val="440"/>
              </a:spcBef>
              <a:spcAft>
                <a:spcPts val="0"/>
              </a:spcAft>
              <a:buSzPts val="2200"/>
              <a:buNone/>
              <a:defRPr sz="2200">
                <a:solidFill>
                  <a:srgbClr val="262626"/>
                </a:solidFill>
                <a:latin typeface="Avenir"/>
                <a:ea typeface="Avenir"/>
                <a:cs typeface="Avenir"/>
                <a:sym typeface="Avenir"/>
              </a:defRPr>
            </a:lvl1pPr>
            <a:lvl2pPr indent="-228600" lvl="1" marL="914400" algn="l">
              <a:spcBef>
                <a:spcPts val="1600"/>
              </a:spcBef>
              <a:spcAft>
                <a:spcPts val="0"/>
              </a:spcAft>
              <a:buClr>
                <a:srgbClr val="FFFFFF"/>
              </a:buClr>
              <a:buSzPts val="2200"/>
              <a:buNone/>
              <a:defRPr sz="2200">
                <a:solidFill>
                  <a:srgbClr val="FFFFFF"/>
                </a:solidFill>
                <a:latin typeface="Helvetica Neue"/>
                <a:ea typeface="Helvetica Neue"/>
                <a:cs typeface="Helvetica Neue"/>
                <a:sym typeface="Helvetica Neue"/>
              </a:defRPr>
            </a:lvl2pPr>
            <a:lvl3pPr indent="-228600" lvl="2" marL="1371600" algn="l">
              <a:spcBef>
                <a:spcPts val="1600"/>
              </a:spcBef>
              <a:spcAft>
                <a:spcPts val="0"/>
              </a:spcAft>
              <a:buClr>
                <a:srgbClr val="FFFFFF"/>
              </a:buClr>
              <a:buSzPts val="2200"/>
              <a:buNone/>
              <a:defRPr sz="2200">
                <a:solidFill>
                  <a:srgbClr val="FFFFFF"/>
                </a:solidFill>
                <a:latin typeface="Helvetica Neue"/>
                <a:ea typeface="Helvetica Neue"/>
                <a:cs typeface="Helvetica Neue"/>
                <a:sym typeface="Helvetica Neue"/>
              </a:defRPr>
            </a:lvl3pPr>
            <a:lvl4pPr indent="-228600" lvl="3" marL="1828800" algn="l">
              <a:spcBef>
                <a:spcPts val="1600"/>
              </a:spcBef>
              <a:spcAft>
                <a:spcPts val="0"/>
              </a:spcAft>
              <a:buClr>
                <a:srgbClr val="FFFFFF"/>
              </a:buClr>
              <a:buSzPts val="2200"/>
              <a:buNone/>
              <a:defRPr sz="2200">
                <a:solidFill>
                  <a:srgbClr val="FFFFFF"/>
                </a:solidFill>
                <a:latin typeface="Helvetica Neue"/>
                <a:ea typeface="Helvetica Neue"/>
                <a:cs typeface="Helvetica Neue"/>
                <a:sym typeface="Helvetica Neue"/>
              </a:defRPr>
            </a:lvl4pPr>
            <a:lvl5pPr indent="-228600" lvl="4" marL="2286000" algn="l">
              <a:spcBef>
                <a:spcPts val="1600"/>
              </a:spcBef>
              <a:spcAft>
                <a:spcPts val="0"/>
              </a:spcAft>
              <a:buClr>
                <a:srgbClr val="FFFFFF"/>
              </a:buClr>
              <a:buSzPts val="2200"/>
              <a:buNone/>
              <a:defRPr sz="2200">
                <a:solidFill>
                  <a:srgbClr val="FFFFFF"/>
                </a:solidFill>
                <a:latin typeface="Helvetica Neue"/>
                <a:ea typeface="Helvetica Neue"/>
                <a:cs typeface="Helvetica Neue"/>
                <a:sym typeface="Helvetica Neue"/>
              </a:defRPr>
            </a:lvl5pPr>
            <a:lvl6pPr indent="-292100" lvl="5" marL="2743200" algn="l">
              <a:spcBef>
                <a:spcPts val="1600"/>
              </a:spcBef>
              <a:spcAft>
                <a:spcPts val="0"/>
              </a:spcAft>
              <a:buClr>
                <a:schemeClr val="accent6"/>
              </a:buClr>
              <a:buSzPts val="1000"/>
              <a:buChar char="■"/>
              <a:defRPr/>
            </a:lvl6pPr>
            <a:lvl7pPr indent="-292100" lvl="6" marL="3200400" algn="l">
              <a:spcBef>
                <a:spcPts val="1600"/>
              </a:spcBef>
              <a:spcAft>
                <a:spcPts val="0"/>
              </a:spcAft>
              <a:buClr>
                <a:schemeClr val="accent6"/>
              </a:buClr>
              <a:buSzPts val="1000"/>
              <a:buChar char="●"/>
              <a:defRPr/>
            </a:lvl7pPr>
            <a:lvl8pPr indent="-292100" lvl="7" marL="3657600" algn="l">
              <a:spcBef>
                <a:spcPts val="1600"/>
              </a:spcBef>
              <a:spcAft>
                <a:spcPts val="0"/>
              </a:spcAft>
              <a:buClr>
                <a:schemeClr val="accent6"/>
              </a:buClr>
              <a:buSzPts val="1000"/>
              <a:buChar char="○"/>
              <a:defRPr/>
            </a:lvl8pPr>
            <a:lvl9pPr indent="-292100" lvl="8" marL="4114800" algn="l">
              <a:spcBef>
                <a:spcPts val="1600"/>
              </a:spcBef>
              <a:spcAft>
                <a:spcPts val="1600"/>
              </a:spcAft>
              <a:buClr>
                <a:schemeClr val="accent6"/>
              </a:buClr>
              <a:buSzPts val="1000"/>
              <a:buChar char="■"/>
              <a:defRPr/>
            </a:lvl9pPr>
          </a:lstStyle>
          <a:p/>
        </p:txBody>
      </p:sp>
      <p:sp>
        <p:nvSpPr>
          <p:cNvPr id="57" name="Google Shape;57;p14"/>
          <p:cNvSpPr txBox="1"/>
          <p:nvPr>
            <p:ph idx="2" type="body"/>
          </p:nvPr>
        </p:nvSpPr>
        <p:spPr>
          <a:xfrm>
            <a:off x="379350" y="752222"/>
            <a:ext cx="8385300" cy="3870000"/>
          </a:xfrm>
          <a:prstGeom prst="rect">
            <a:avLst/>
          </a:prstGeom>
          <a:noFill/>
          <a:ln>
            <a:noFill/>
          </a:ln>
        </p:spPr>
        <p:txBody>
          <a:bodyPr anchorCtr="0" anchor="t" bIns="45700" lIns="0" spcFirstLastPara="1" rIns="0" wrap="square" tIns="45700">
            <a:noAutofit/>
          </a:bodyPr>
          <a:lstStyle>
            <a:lvl1pPr indent="-304800" lvl="0" marL="457200" algn="l">
              <a:spcBef>
                <a:spcPts val="280"/>
              </a:spcBef>
              <a:spcAft>
                <a:spcPts val="0"/>
              </a:spcAft>
              <a:buSzPts val="1200"/>
              <a:buChar char="●"/>
              <a:defRPr sz="1400">
                <a:latin typeface="Avenir"/>
                <a:ea typeface="Avenir"/>
                <a:cs typeface="Avenir"/>
                <a:sym typeface="Avenir"/>
              </a:defRPr>
            </a:lvl1pPr>
            <a:lvl2pPr indent="-281940" lvl="1" marL="914400" algn="l">
              <a:spcBef>
                <a:spcPts val="1600"/>
              </a:spcBef>
              <a:spcAft>
                <a:spcPts val="0"/>
              </a:spcAft>
              <a:buClr>
                <a:schemeClr val="dk2"/>
              </a:buClr>
              <a:buSzPts val="840"/>
              <a:buChar char="○"/>
              <a:defRPr sz="1200">
                <a:latin typeface="Avenir"/>
                <a:ea typeface="Avenir"/>
                <a:cs typeface="Avenir"/>
                <a:sym typeface="Avenir"/>
              </a:defRPr>
            </a:lvl2pPr>
            <a:lvl3pPr indent="-292100" lvl="2" marL="1371600" algn="l">
              <a:spcBef>
                <a:spcPts val="1600"/>
              </a:spcBef>
              <a:spcAft>
                <a:spcPts val="0"/>
              </a:spcAft>
              <a:buClr>
                <a:schemeClr val="dk2"/>
              </a:buClr>
              <a:buSzPts val="1000"/>
              <a:buChar char="■"/>
              <a:defRPr sz="1100">
                <a:latin typeface="Avenir"/>
                <a:ea typeface="Avenir"/>
                <a:cs typeface="Avenir"/>
                <a:sym typeface="Avenir"/>
              </a:defRPr>
            </a:lvl3pPr>
            <a:lvl4pPr indent="-292100" lvl="3" marL="1828800" algn="l">
              <a:spcBef>
                <a:spcPts val="1600"/>
              </a:spcBef>
              <a:spcAft>
                <a:spcPts val="0"/>
              </a:spcAft>
              <a:buClr>
                <a:schemeClr val="accent6"/>
              </a:buClr>
              <a:buSzPts val="1000"/>
              <a:buChar char="●"/>
              <a:defRPr sz="1050"/>
            </a:lvl4pPr>
            <a:lvl5pPr indent="-292100" lvl="4" marL="2286000" algn="l">
              <a:spcBef>
                <a:spcPts val="1600"/>
              </a:spcBef>
              <a:spcAft>
                <a:spcPts val="0"/>
              </a:spcAft>
              <a:buClr>
                <a:schemeClr val="accent6"/>
              </a:buClr>
              <a:buSzPts val="1000"/>
              <a:buChar char="○"/>
              <a:defRPr sz="1050"/>
            </a:lvl5pPr>
            <a:lvl6pPr indent="-292100" lvl="5" marL="2743200" algn="l">
              <a:spcBef>
                <a:spcPts val="1600"/>
              </a:spcBef>
              <a:spcAft>
                <a:spcPts val="0"/>
              </a:spcAft>
              <a:buClr>
                <a:schemeClr val="accent6"/>
              </a:buClr>
              <a:buSzPts val="1000"/>
              <a:buChar char="■"/>
              <a:defRPr/>
            </a:lvl6pPr>
            <a:lvl7pPr indent="-292100" lvl="6" marL="3200400" algn="l">
              <a:spcBef>
                <a:spcPts val="1600"/>
              </a:spcBef>
              <a:spcAft>
                <a:spcPts val="0"/>
              </a:spcAft>
              <a:buClr>
                <a:schemeClr val="accent6"/>
              </a:buClr>
              <a:buSzPts val="1000"/>
              <a:buChar char="●"/>
              <a:defRPr/>
            </a:lvl7pPr>
            <a:lvl8pPr indent="-292100" lvl="7" marL="3657600" algn="l">
              <a:spcBef>
                <a:spcPts val="1600"/>
              </a:spcBef>
              <a:spcAft>
                <a:spcPts val="0"/>
              </a:spcAft>
              <a:buClr>
                <a:schemeClr val="accent6"/>
              </a:buClr>
              <a:buSzPts val="1000"/>
              <a:buChar char="○"/>
              <a:defRPr/>
            </a:lvl8pPr>
            <a:lvl9pPr indent="-292100" lvl="8" marL="4114800" algn="l">
              <a:spcBef>
                <a:spcPts val="1600"/>
              </a:spcBef>
              <a:spcAft>
                <a:spcPts val="1600"/>
              </a:spcAft>
              <a:buClr>
                <a:schemeClr val="accent6"/>
              </a:buClr>
              <a:buSzPts val="10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Disclaimer">
  <p:cSld name="D - Disclaimer">
    <p:spTree>
      <p:nvGrpSpPr>
        <p:cNvPr id="58" name="Shape 58"/>
        <p:cNvGrpSpPr/>
        <p:nvPr/>
      </p:nvGrpSpPr>
      <p:grpSpPr>
        <a:xfrm>
          <a:off x="0" y="0"/>
          <a:ext cx="0" cy="0"/>
          <a:chOff x="0" y="0"/>
          <a:chExt cx="0" cy="0"/>
        </a:xfrm>
      </p:grpSpPr>
      <p:pic>
        <p:nvPicPr>
          <p:cNvPr id="59" name="Google Shape;59;p15"/>
          <p:cNvPicPr preferRelativeResize="0"/>
          <p:nvPr/>
        </p:nvPicPr>
        <p:blipFill rotWithShape="1">
          <a:blip r:embed="rId2">
            <a:alphaModFix/>
          </a:blip>
          <a:srcRect b="0" l="0" r="0" t="0"/>
          <a:stretch/>
        </p:blipFill>
        <p:spPr>
          <a:xfrm>
            <a:off x="540000" y="4617056"/>
            <a:ext cx="258128" cy="242887"/>
          </a:xfrm>
          <a:prstGeom prst="rect">
            <a:avLst/>
          </a:prstGeom>
          <a:noFill/>
          <a:ln>
            <a:noFill/>
          </a:ln>
        </p:spPr>
      </p:pic>
      <p:pic>
        <p:nvPicPr>
          <p:cNvPr id="60" name="Google Shape;60;p15"/>
          <p:cNvPicPr preferRelativeResize="0"/>
          <p:nvPr/>
        </p:nvPicPr>
        <p:blipFill rotWithShape="1">
          <a:blip r:embed="rId3">
            <a:alphaModFix/>
          </a:blip>
          <a:srcRect b="0" l="0" r="0" t="0"/>
          <a:stretch/>
        </p:blipFill>
        <p:spPr>
          <a:xfrm>
            <a:off x="3987500" y="4694479"/>
            <a:ext cx="1169000" cy="88042"/>
          </a:xfrm>
          <a:prstGeom prst="rect">
            <a:avLst/>
          </a:prstGeom>
          <a:noFill/>
          <a:ln>
            <a:noFill/>
          </a:ln>
        </p:spPr>
      </p:pic>
      <p:sp>
        <p:nvSpPr>
          <p:cNvPr id="61" name="Google Shape;61;p15"/>
          <p:cNvSpPr txBox="1"/>
          <p:nvPr/>
        </p:nvSpPr>
        <p:spPr>
          <a:xfrm>
            <a:off x="7756953" y="4713271"/>
            <a:ext cx="847200" cy="13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fld id="{00000000-1234-1234-1234-123412341234}" type="slidenum">
              <a:rPr b="0" i="0" lang="en" sz="900" u="none" cap="none" strike="noStrike">
                <a:solidFill>
                  <a:srgbClr val="7D93C0"/>
                </a:solidFill>
                <a:latin typeface="Nunito Sans"/>
                <a:ea typeface="Nunito Sans"/>
                <a:cs typeface="Nunito Sans"/>
                <a:sym typeface="Nunito Sans"/>
              </a:rPr>
              <a:t>‹#›</a:t>
            </a:fld>
            <a:endParaRPr b="0" i="0" sz="900" u="none" cap="none" strike="noStrike">
              <a:solidFill>
                <a:srgbClr val="7D93C0"/>
              </a:solidFill>
              <a:latin typeface="Nunito Sans"/>
              <a:ea typeface="Nunito Sans"/>
              <a:cs typeface="Nunito Sans"/>
              <a:sym typeface="Nunito Sans"/>
            </a:endParaRPr>
          </a:p>
        </p:txBody>
      </p:sp>
      <p:sp>
        <p:nvSpPr>
          <p:cNvPr id="62" name="Google Shape;62;p15"/>
          <p:cNvSpPr txBox="1"/>
          <p:nvPr/>
        </p:nvSpPr>
        <p:spPr>
          <a:xfrm>
            <a:off x="539999" y="593255"/>
            <a:ext cx="8128500" cy="346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i="0" lang="en" sz="1800" u="none" cap="none" strike="noStrike">
                <a:solidFill>
                  <a:srgbClr val="19ABFF"/>
                </a:solidFill>
                <a:latin typeface="Nunito Sans SemiBold"/>
                <a:ea typeface="Nunito Sans SemiBold"/>
                <a:cs typeface="Nunito Sans SemiBold"/>
                <a:sym typeface="Nunito Sans SemiBold"/>
              </a:rPr>
              <a:t>Disclaimer &amp; Copyright</a:t>
            </a:r>
            <a:endParaRPr sz="1100"/>
          </a:p>
        </p:txBody>
      </p:sp>
      <p:sp>
        <p:nvSpPr>
          <p:cNvPr id="63" name="Google Shape;63;p15"/>
          <p:cNvSpPr txBox="1"/>
          <p:nvPr/>
        </p:nvSpPr>
        <p:spPr>
          <a:xfrm>
            <a:off x="1079550" y="1741154"/>
            <a:ext cx="6984900" cy="1517100"/>
          </a:xfrm>
          <a:prstGeom prst="rect">
            <a:avLst/>
          </a:prstGeom>
          <a:noFill/>
          <a:ln>
            <a:noFill/>
          </a:ln>
        </p:spPr>
        <p:txBody>
          <a:bodyPr anchorCtr="0" anchor="t" bIns="34275" lIns="68575" spcFirstLastPara="1" rIns="68575" wrap="square" tIns="34275">
            <a:noAutofit/>
          </a:bodyPr>
          <a:lstStyle/>
          <a:p>
            <a:pPr indent="0" lvl="0" marL="0" marR="0" rtl="0" algn="ctr">
              <a:lnSpc>
                <a:spcPct val="130000"/>
              </a:lnSpc>
              <a:spcBef>
                <a:spcPts val="0"/>
              </a:spcBef>
              <a:spcAft>
                <a:spcPts val="0"/>
              </a:spcAft>
              <a:buClr>
                <a:srgbClr val="C1D1F3"/>
              </a:buClr>
              <a:buSzPts val="1100"/>
              <a:buFont typeface="Proxima Nova"/>
              <a:buNone/>
            </a:pPr>
            <a:r>
              <a:rPr b="0" i="0" lang="en" sz="1100" u="none" cap="none" strike="noStrike">
                <a:solidFill>
                  <a:srgbClr val="C1D1F3"/>
                </a:solidFill>
                <a:latin typeface="Proxima Nova"/>
                <a:ea typeface="Proxima Nova"/>
                <a:cs typeface="Proxima Nova"/>
                <a:sym typeface="Proxima Nova"/>
              </a:rPr>
              <a:t>This document is for confidential use of the recipient to whom it was addressed and may not be reproduced. Distribution that is not approved by Augustus Inc may result in a violation of applicable securities regulations. This document and all accompanying materials shall be returned to an authorized officer of the company upon request. When used in this document, the words “forecasts,” “estimates,” “projects,” “expects,” “anticipates,” “intends,” “believes,” and other similar expressions are intended to identify forward-looking statements. Such statements are subject to certain risks and uncertainties that could cause actual results to differ materially from those projected. No representation, assurance, or guarantee can be made as to the actual results that may occur.</a:t>
            </a:r>
            <a:endParaRPr sz="1100"/>
          </a:p>
          <a:p>
            <a:pPr indent="0" lvl="0" marL="0" marR="0" rtl="0" algn="ctr">
              <a:lnSpc>
                <a:spcPct val="130000"/>
              </a:lnSpc>
              <a:spcBef>
                <a:spcPts val="0"/>
              </a:spcBef>
              <a:spcAft>
                <a:spcPts val="0"/>
              </a:spcAft>
              <a:buNone/>
            </a:pPr>
            <a:r>
              <a:t/>
            </a:r>
            <a:endParaRPr b="0" i="0" sz="1100" u="none" cap="none" strike="noStrike">
              <a:solidFill>
                <a:srgbClr val="C1D1F3"/>
              </a:solidFill>
              <a:latin typeface="Proxima Nova"/>
              <a:ea typeface="Proxima Nova"/>
              <a:cs typeface="Proxima Nova"/>
              <a:sym typeface="Proxima Nova"/>
            </a:endParaRPr>
          </a:p>
        </p:txBody>
      </p:sp>
      <p:sp>
        <p:nvSpPr>
          <p:cNvPr id="64" name="Google Shape;64;p15"/>
          <p:cNvSpPr txBox="1"/>
          <p:nvPr/>
        </p:nvSpPr>
        <p:spPr>
          <a:xfrm>
            <a:off x="1079550" y="4059950"/>
            <a:ext cx="6984900" cy="256800"/>
          </a:xfrm>
          <a:prstGeom prst="rect">
            <a:avLst/>
          </a:prstGeom>
          <a:noFill/>
          <a:ln>
            <a:noFill/>
          </a:ln>
        </p:spPr>
        <p:txBody>
          <a:bodyPr anchorCtr="0" anchor="t" bIns="34275" lIns="68575" spcFirstLastPara="1" rIns="68575" wrap="square" tIns="34275">
            <a:noAutofit/>
          </a:bodyPr>
          <a:lstStyle/>
          <a:p>
            <a:pPr indent="0" lvl="0" marL="0" marR="0" rtl="0" algn="ctr">
              <a:lnSpc>
                <a:spcPct val="130000"/>
              </a:lnSpc>
              <a:spcBef>
                <a:spcPts val="0"/>
              </a:spcBef>
              <a:spcAft>
                <a:spcPts val="0"/>
              </a:spcAft>
              <a:buClr>
                <a:srgbClr val="C1D1F3"/>
              </a:buClr>
              <a:buSzPts val="1100"/>
              <a:buFont typeface="Proxima Nova Semibold"/>
              <a:buNone/>
            </a:pPr>
            <a:r>
              <a:rPr b="1" i="0" lang="en" sz="1100" u="none" cap="none" strike="noStrike">
                <a:solidFill>
                  <a:srgbClr val="C1D1F3"/>
                </a:solidFill>
                <a:latin typeface="Proxima Nova Semibold"/>
                <a:ea typeface="Proxima Nova Semibold"/>
                <a:cs typeface="Proxima Nova Semibold"/>
                <a:sym typeface="Proxima Nova Semibold"/>
              </a:rPr>
              <a:t>Copyright ©2020 – Augustus Intelligence Inc.</a:t>
            </a:r>
            <a:endParaRPr sz="11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p:cSld name="TITLE_2">
    <p:spTree>
      <p:nvGrpSpPr>
        <p:cNvPr id="65" name="Shape 65"/>
        <p:cNvGrpSpPr/>
        <p:nvPr/>
      </p:nvGrpSpPr>
      <p:grpSpPr>
        <a:xfrm>
          <a:off x="0" y="0"/>
          <a:ext cx="0" cy="0"/>
          <a:chOff x="0" y="0"/>
          <a:chExt cx="0" cy="0"/>
        </a:xfrm>
      </p:grpSpPr>
      <p:sp>
        <p:nvSpPr>
          <p:cNvPr id="66" name="Google Shape;66;p16"/>
          <p:cNvSpPr txBox="1"/>
          <p:nvPr>
            <p:ph type="title"/>
          </p:nvPr>
        </p:nvSpPr>
        <p:spPr>
          <a:xfrm>
            <a:off x="1812726" y="863947"/>
            <a:ext cx="5518500" cy="1741200"/>
          </a:xfrm>
          <a:prstGeom prst="rect">
            <a:avLst/>
          </a:prstGeom>
          <a:noFill/>
          <a:ln>
            <a:noFill/>
          </a:ln>
        </p:spPr>
        <p:txBody>
          <a:bodyPr anchorCtr="0" anchor="b" bIns="26775" lIns="26775" spcFirstLastPara="1" rIns="26775" wrap="square" tIns="26775">
            <a:normAutofit/>
          </a:bodyPr>
          <a:lstStyle>
            <a:lvl1pPr lvl="0" algn="ctr">
              <a:lnSpc>
                <a:spcPct val="100000"/>
              </a:lnSpc>
              <a:spcBef>
                <a:spcPts val="0"/>
              </a:spcBef>
              <a:spcAft>
                <a:spcPts val="0"/>
              </a:spcAft>
              <a:buClr>
                <a:srgbClr val="000000"/>
              </a:buClr>
              <a:buSzPts val="4200"/>
              <a:buFont typeface="Arial"/>
              <a:buNone/>
              <a:defRPr sz="4200"/>
            </a:lvl1pPr>
            <a:lvl2pPr lvl="1" algn="l">
              <a:lnSpc>
                <a:spcPct val="100000"/>
              </a:lnSpc>
              <a:spcBef>
                <a:spcPts val="0"/>
              </a:spcBef>
              <a:spcAft>
                <a:spcPts val="0"/>
              </a:spcAft>
              <a:buClr>
                <a:srgbClr val="000000"/>
              </a:buClr>
              <a:buSzPts val="700"/>
              <a:buNone/>
              <a:defRPr/>
            </a:lvl2pPr>
            <a:lvl3pPr lvl="2" algn="l">
              <a:lnSpc>
                <a:spcPct val="100000"/>
              </a:lnSpc>
              <a:spcBef>
                <a:spcPts val="0"/>
              </a:spcBef>
              <a:spcAft>
                <a:spcPts val="0"/>
              </a:spcAft>
              <a:buClr>
                <a:srgbClr val="000000"/>
              </a:buClr>
              <a:buSzPts val="700"/>
              <a:buNone/>
              <a:defRPr/>
            </a:lvl3pPr>
            <a:lvl4pPr lvl="3" algn="l">
              <a:lnSpc>
                <a:spcPct val="100000"/>
              </a:lnSpc>
              <a:spcBef>
                <a:spcPts val="0"/>
              </a:spcBef>
              <a:spcAft>
                <a:spcPts val="0"/>
              </a:spcAft>
              <a:buClr>
                <a:srgbClr val="000000"/>
              </a:buClr>
              <a:buSzPts val="700"/>
              <a:buNone/>
              <a:defRPr/>
            </a:lvl4pPr>
            <a:lvl5pPr lvl="4" algn="l">
              <a:lnSpc>
                <a:spcPct val="100000"/>
              </a:lnSpc>
              <a:spcBef>
                <a:spcPts val="0"/>
              </a:spcBef>
              <a:spcAft>
                <a:spcPts val="0"/>
              </a:spcAft>
              <a:buClr>
                <a:srgbClr val="000000"/>
              </a:buClr>
              <a:buSzPts val="700"/>
              <a:buNone/>
              <a:defRPr/>
            </a:lvl5pPr>
            <a:lvl6pPr lvl="5" algn="l">
              <a:lnSpc>
                <a:spcPct val="100000"/>
              </a:lnSpc>
              <a:spcBef>
                <a:spcPts val="0"/>
              </a:spcBef>
              <a:spcAft>
                <a:spcPts val="0"/>
              </a:spcAft>
              <a:buClr>
                <a:srgbClr val="000000"/>
              </a:buClr>
              <a:buSzPts val="700"/>
              <a:buNone/>
              <a:defRPr/>
            </a:lvl6pPr>
            <a:lvl7pPr lvl="6" algn="l">
              <a:lnSpc>
                <a:spcPct val="100000"/>
              </a:lnSpc>
              <a:spcBef>
                <a:spcPts val="0"/>
              </a:spcBef>
              <a:spcAft>
                <a:spcPts val="0"/>
              </a:spcAft>
              <a:buClr>
                <a:srgbClr val="000000"/>
              </a:buClr>
              <a:buSzPts val="700"/>
              <a:buNone/>
              <a:defRPr/>
            </a:lvl7pPr>
            <a:lvl8pPr lvl="7" algn="l">
              <a:lnSpc>
                <a:spcPct val="100000"/>
              </a:lnSpc>
              <a:spcBef>
                <a:spcPts val="0"/>
              </a:spcBef>
              <a:spcAft>
                <a:spcPts val="0"/>
              </a:spcAft>
              <a:buClr>
                <a:srgbClr val="000000"/>
              </a:buClr>
              <a:buSzPts val="700"/>
              <a:buNone/>
              <a:defRPr/>
            </a:lvl8pPr>
            <a:lvl9pPr lvl="8" algn="l">
              <a:lnSpc>
                <a:spcPct val="100000"/>
              </a:lnSpc>
              <a:spcBef>
                <a:spcPts val="0"/>
              </a:spcBef>
              <a:spcAft>
                <a:spcPts val="0"/>
              </a:spcAft>
              <a:buClr>
                <a:srgbClr val="000000"/>
              </a:buClr>
              <a:buSzPts val="700"/>
              <a:buNone/>
              <a:defRPr/>
            </a:lvl9pPr>
          </a:lstStyle>
          <a:p/>
        </p:txBody>
      </p:sp>
      <p:sp>
        <p:nvSpPr>
          <p:cNvPr id="67" name="Google Shape;67;p16"/>
          <p:cNvSpPr txBox="1"/>
          <p:nvPr>
            <p:ph idx="1" type="body"/>
          </p:nvPr>
        </p:nvSpPr>
        <p:spPr>
          <a:xfrm>
            <a:off x="1812726" y="2658814"/>
            <a:ext cx="5518500" cy="596100"/>
          </a:xfrm>
          <a:prstGeom prst="rect">
            <a:avLst/>
          </a:prstGeom>
          <a:noFill/>
          <a:ln>
            <a:noFill/>
          </a:ln>
        </p:spPr>
        <p:txBody>
          <a:bodyPr anchorCtr="0" anchor="t" bIns="26775" lIns="26775" spcFirstLastPara="1" rIns="26775" wrap="square" tIns="26775">
            <a:normAutofit/>
          </a:bodyPr>
          <a:lstStyle>
            <a:lvl1pPr indent="-228600" lvl="0" marL="457200" algn="ctr">
              <a:lnSpc>
                <a:spcPct val="100000"/>
              </a:lnSpc>
              <a:spcBef>
                <a:spcPts val="0"/>
              </a:spcBef>
              <a:spcAft>
                <a:spcPts val="0"/>
              </a:spcAft>
              <a:buClr>
                <a:srgbClr val="000000"/>
              </a:buClr>
              <a:buSzPts val="2000"/>
              <a:buFont typeface="Arial"/>
              <a:buNone/>
              <a:defRPr sz="2000"/>
            </a:lvl1pPr>
            <a:lvl2pPr indent="-228600" lvl="1" marL="914400" algn="ctr">
              <a:lnSpc>
                <a:spcPct val="100000"/>
              </a:lnSpc>
              <a:spcBef>
                <a:spcPts val="0"/>
              </a:spcBef>
              <a:spcAft>
                <a:spcPts val="0"/>
              </a:spcAft>
              <a:buClr>
                <a:srgbClr val="000000"/>
              </a:buClr>
              <a:buSzPts val="2000"/>
              <a:buFont typeface="Arial"/>
              <a:buNone/>
              <a:defRPr sz="2000"/>
            </a:lvl2pPr>
            <a:lvl3pPr indent="-228600" lvl="2" marL="1371600" algn="ctr">
              <a:lnSpc>
                <a:spcPct val="100000"/>
              </a:lnSpc>
              <a:spcBef>
                <a:spcPts val="0"/>
              </a:spcBef>
              <a:spcAft>
                <a:spcPts val="0"/>
              </a:spcAft>
              <a:buClr>
                <a:srgbClr val="000000"/>
              </a:buClr>
              <a:buSzPts val="2000"/>
              <a:buFont typeface="Arial"/>
              <a:buNone/>
              <a:defRPr sz="2000"/>
            </a:lvl3pPr>
            <a:lvl4pPr indent="-228600" lvl="3" marL="1828800" algn="ctr">
              <a:lnSpc>
                <a:spcPct val="100000"/>
              </a:lnSpc>
              <a:spcBef>
                <a:spcPts val="0"/>
              </a:spcBef>
              <a:spcAft>
                <a:spcPts val="0"/>
              </a:spcAft>
              <a:buClr>
                <a:srgbClr val="000000"/>
              </a:buClr>
              <a:buSzPts val="2000"/>
              <a:buFont typeface="Arial"/>
              <a:buNone/>
              <a:defRPr sz="2000"/>
            </a:lvl4pPr>
            <a:lvl5pPr indent="-228600" lvl="4" marL="2286000" algn="ctr">
              <a:lnSpc>
                <a:spcPct val="100000"/>
              </a:lnSpc>
              <a:spcBef>
                <a:spcPts val="0"/>
              </a:spcBef>
              <a:spcAft>
                <a:spcPts val="0"/>
              </a:spcAft>
              <a:buClr>
                <a:srgbClr val="000000"/>
              </a:buClr>
              <a:buSzPts val="2000"/>
              <a:buFont typeface="Arial"/>
              <a:buNone/>
              <a:defRPr sz="2000"/>
            </a:lvl5pPr>
            <a:lvl6pPr indent="-292100" lvl="5" marL="2743200" algn="l">
              <a:lnSpc>
                <a:spcPct val="100000"/>
              </a:lnSpc>
              <a:spcBef>
                <a:spcPts val="2200"/>
              </a:spcBef>
              <a:spcAft>
                <a:spcPts val="0"/>
              </a:spcAft>
              <a:buClr>
                <a:srgbClr val="000000"/>
              </a:buClr>
              <a:buSzPts val="1000"/>
              <a:buChar char="■"/>
              <a:defRPr/>
            </a:lvl6pPr>
            <a:lvl7pPr indent="-292100" lvl="6" marL="3200400" algn="l">
              <a:lnSpc>
                <a:spcPct val="100000"/>
              </a:lnSpc>
              <a:spcBef>
                <a:spcPts val="2200"/>
              </a:spcBef>
              <a:spcAft>
                <a:spcPts val="0"/>
              </a:spcAft>
              <a:buClr>
                <a:srgbClr val="000000"/>
              </a:buClr>
              <a:buSzPts val="1000"/>
              <a:buChar char="●"/>
              <a:defRPr/>
            </a:lvl7pPr>
            <a:lvl8pPr indent="-292100" lvl="7" marL="3657600" algn="l">
              <a:lnSpc>
                <a:spcPct val="100000"/>
              </a:lnSpc>
              <a:spcBef>
                <a:spcPts val="2200"/>
              </a:spcBef>
              <a:spcAft>
                <a:spcPts val="0"/>
              </a:spcAft>
              <a:buClr>
                <a:srgbClr val="000000"/>
              </a:buClr>
              <a:buSzPts val="1000"/>
              <a:buChar char="○"/>
              <a:defRPr/>
            </a:lvl8pPr>
            <a:lvl9pPr indent="-292100" lvl="8" marL="4114800" algn="l">
              <a:lnSpc>
                <a:spcPct val="100000"/>
              </a:lnSpc>
              <a:spcBef>
                <a:spcPts val="2200"/>
              </a:spcBef>
              <a:spcAft>
                <a:spcPts val="0"/>
              </a:spcAft>
              <a:buClr>
                <a:srgbClr val="000000"/>
              </a:buClr>
              <a:buSzPts val="1000"/>
              <a:buChar char="■"/>
              <a:defRPr/>
            </a:lvl9pPr>
          </a:lstStyle>
          <a:p/>
        </p:txBody>
      </p:sp>
      <p:sp>
        <p:nvSpPr>
          <p:cNvPr id="68" name="Google Shape;68;p16"/>
          <p:cNvSpPr txBox="1"/>
          <p:nvPr>
            <p:ph idx="2" type="body"/>
          </p:nvPr>
        </p:nvSpPr>
        <p:spPr>
          <a:xfrm>
            <a:off x="4078448" y="4331717"/>
            <a:ext cx="987000" cy="277500"/>
          </a:xfrm>
          <a:prstGeom prst="rect">
            <a:avLst/>
          </a:prstGeom>
          <a:noFill/>
          <a:ln>
            <a:noFill/>
          </a:ln>
        </p:spPr>
        <p:txBody>
          <a:bodyPr anchorCtr="0" anchor="ctr" bIns="26775" lIns="26775" spcFirstLastPara="1" rIns="26775" wrap="square" tIns="26775">
            <a:normAutofit/>
          </a:bodyPr>
          <a:lstStyle>
            <a:lvl1pPr indent="-292100" lvl="0" marL="457200" algn="l">
              <a:lnSpc>
                <a:spcPct val="100000"/>
              </a:lnSpc>
              <a:spcBef>
                <a:spcPts val="2200"/>
              </a:spcBef>
              <a:spcAft>
                <a:spcPts val="0"/>
              </a:spcAft>
              <a:buClr>
                <a:srgbClr val="000000"/>
              </a:buClr>
              <a:buSzPts val="1000"/>
              <a:buChar char="●"/>
              <a:defRPr/>
            </a:lvl1pPr>
            <a:lvl2pPr indent="-292100" lvl="1" marL="914400" algn="l">
              <a:lnSpc>
                <a:spcPct val="100000"/>
              </a:lnSpc>
              <a:spcBef>
                <a:spcPts val="2200"/>
              </a:spcBef>
              <a:spcAft>
                <a:spcPts val="0"/>
              </a:spcAft>
              <a:buClr>
                <a:srgbClr val="000000"/>
              </a:buClr>
              <a:buSzPts val="1000"/>
              <a:buChar char="○"/>
              <a:defRPr/>
            </a:lvl2pPr>
            <a:lvl3pPr indent="-292100" lvl="2" marL="1371600" algn="l">
              <a:lnSpc>
                <a:spcPct val="100000"/>
              </a:lnSpc>
              <a:spcBef>
                <a:spcPts val="2200"/>
              </a:spcBef>
              <a:spcAft>
                <a:spcPts val="0"/>
              </a:spcAft>
              <a:buClr>
                <a:srgbClr val="000000"/>
              </a:buClr>
              <a:buSzPts val="1000"/>
              <a:buChar char="■"/>
              <a:defRPr/>
            </a:lvl3pPr>
            <a:lvl4pPr indent="-292100" lvl="3" marL="1828800" algn="l">
              <a:lnSpc>
                <a:spcPct val="100000"/>
              </a:lnSpc>
              <a:spcBef>
                <a:spcPts val="2200"/>
              </a:spcBef>
              <a:spcAft>
                <a:spcPts val="0"/>
              </a:spcAft>
              <a:buClr>
                <a:srgbClr val="000000"/>
              </a:buClr>
              <a:buSzPts val="1000"/>
              <a:buChar char="●"/>
              <a:defRPr/>
            </a:lvl4pPr>
            <a:lvl5pPr indent="-292100" lvl="4" marL="2286000" algn="l">
              <a:lnSpc>
                <a:spcPct val="100000"/>
              </a:lnSpc>
              <a:spcBef>
                <a:spcPts val="2200"/>
              </a:spcBef>
              <a:spcAft>
                <a:spcPts val="0"/>
              </a:spcAft>
              <a:buClr>
                <a:srgbClr val="000000"/>
              </a:buClr>
              <a:buSzPts val="1000"/>
              <a:buChar char="○"/>
              <a:defRPr/>
            </a:lvl5pPr>
            <a:lvl6pPr indent="-292100" lvl="5" marL="2743200" algn="l">
              <a:lnSpc>
                <a:spcPct val="100000"/>
              </a:lnSpc>
              <a:spcBef>
                <a:spcPts val="2200"/>
              </a:spcBef>
              <a:spcAft>
                <a:spcPts val="0"/>
              </a:spcAft>
              <a:buClr>
                <a:srgbClr val="000000"/>
              </a:buClr>
              <a:buSzPts val="1000"/>
              <a:buChar char="■"/>
              <a:defRPr/>
            </a:lvl6pPr>
            <a:lvl7pPr indent="-292100" lvl="6" marL="3200400" algn="l">
              <a:lnSpc>
                <a:spcPct val="100000"/>
              </a:lnSpc>
              <a:spcBef>
                <a:spcPts val="2200"/>
              </a:spcBef>
              <a:spcAft>
                <a:spcPts val="0"/>
              </a:spcAft>
              <a:buClr>
                <a:srgbClr val="000000"/>
              </a:buClr>
              <a:buSzPts val="1000"/>
              <a:buChar char="●"/>
              <a:defRPr/>
            </a:lvl7pPr>
            <a:lvl8pPr indent="-292100" lvl="7" marL="3657600" algn="l">
              <a:lnSpc>
                <a:spcPct val="100000"/>
              </a:lnSpc>
              <a:spcBef>
                <a:spcPts val="2200"/>
              </a:spcBef>
              <a:spcAft>
                <a:spcPts val="0"/>
              </a:spcAft>
              <a:buClr>
                <a:srgbClr val="000000"/>
              </a:buClr>
              <a:buSzPts val="1000"/>
              <a:buChar char="○"/>
              <a:defRPr/>
            </a:lvl8pPr>
            <a:lvl9pPr indent="-292100" lvl="8" marL="4114800" algn="l">
              <a:lnSpc>
                <a:spcPct val="100000"/>
              </a:lnSpc>
              <a:spcBef>
                <a:spcPts val="2200"/>
              </a:spcBef>
              <a:spcAft>
                <a:spcPts val="0"/>
              </a:spcAft>
              <a:buClr>
                <a:srgbClr val="000000"/>
              </a:buClr>
              <a:buSzPts val="1000"/>
              <a:buChar char="■"/>
              <a:defRPr/>
            </a:lvl9pPr>
          </a:lstStyle>
          <a:p/>
        </p:txBody>
      </p:sp>
      <p:sp>
        <p:nvSpPr>
          <p:cNvPr id="69" name="Google Shape;69;p16"/>
          <p:cNvSpPr txBox="1"/>
          <p:nvPr>
            <p:ph idx="12" type="sldNum"/>
          </p:nvPr>
        </p:nvSpPr>
        <p:spPr>
          <a:xfrm>
            <a:off x="4482789" y="4902398"/>
            <a:ext cx="174900" cy="207900"/>
          </a:xfrm>
          <a:prstGeom prst="rect">
            <a:avLst/>
          </a:prstGeom>
          <a:noFill/>
          <a:ln>
            <a:noFill/>
          </a:ln>
        </p:spPr>
        <p:txBody>
          <a:bodyPr anchorCtr="0" anchor="t" bIns="26775" lIns="26775" spcFirstLastPara="1" rIns="26775" wrap="square" tIns="26775">
            <a:spAutoFit/>
          </a:bodyPr>
          <a:lstStyle>
            <a:lvl1pPr indent="0" lvl="0"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CUSTOM">
    <p:spTree>
      <p:nvGrpSpPr>
        <p:cNvPr id="70" name="Shape 70"/>
        <p:cNvGrpSpPr/>
        <p:nvPr/>
      </p:nvGrpSpPr>
      <p:grpSpPr>
        <a:xfrm>
          <a:off x="0" y="0"/>
          <a:ext cx="0" cy="0"/>
          <a:chOff x="0" y="0"/>
          <a:chExt cx="0" cy="0"/>
        </a:xfrm>
      </p:grpSpPr>
      <p:sp>
        <p:nvSpPr>
          <p:cNvPr id="71" name="Google Shape;71;p17"/>
          <p:cNvSpPr txBox="1"/>
          <p:nvPr>
            <p:ph type="title"/>
          </p:nvPr>
        </p:nvSpPr>
        <p:spPr>
          <a:xfrm>
            <a:off x="410766" y="428625"/>
            <a:ext cx="7886700" cy="552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pic>
        <p:nvPicPr>
          <p:cNvPr id="72" name="Google Shape;72;p17"/>
          <p:cNvPicPr preferRelativeResize="0"/>
          <p:nvPr/>
        </p:nvPicPr>
        <p:blipFill rotWithShape="1">
          <a:blip r:embed="rId2">
            <a:alphaModFix/>
          </a:blip>
          <a:srcRect b="0" l="0" r="71202" t="0"/>
          <a:stretch/>
        </p:blipFill>
        <p:spPr>
          <a:xfrm>
            <a:off x="8732044" y="217463"/>
            <a:ext cx="195993" cy="193313"/>
          </a:xfrm>
          <a:prstGeom prst="rect">
            <a:avLst/>
          </a:prstGeom>
          <a:noFill/>
          <a:ln>
            <a:noFill/>
          </a:ln>
        </p:spPr>
      </p:pic>
      <p:sp>
        <p:nvSpPr>
          <p:cNvPr id="73" name="Google Shape;73;p17"/>
          <p:cNvSpPr txBox="1"/>
          <p:nvPr>
            <p:ph idx="1" type="body"/>
          </p:nvPr>
        </p:nvSpPr>
        <p:spPr>
          <a:xfrm>
            <a:off x="410775" y="1905938"/>
            <a:ext cx="6905700" cy="2825700"/>
          </a:xfrm>
          <a:prstGeom prst="rect">
            <a:avLst/>
          </a:prstGeom>
        </p:spPr>
        <p:txBody>
          <a:bodyPr anchorCtr="0" anchor="t" bIns="91425" lIns="91425" spcFirstLastPara="1" rIns="91425" wrap="square" tIns="91425">
            <a:noAutofit/>
          </a:bodyPr>
          <a:lstStyle>
            <a:lvl1pPr indent="-298450" lvl="0" marL="457200">
              <a:lnSpc>
                <a:spcPct val="110000"/>
              </a:lnSpc>
              <a:spcBef>
                <a:spcPts val="0"/>
              </a:spcBef>
              <a:spcAft>
                <a:spcPts val="0"/>
              </a:spcAft>
              <a:buSzPts val="1100"/>
              <a:buChar char="●"/>
              <a:defRPr sz="1100"/>
            </a:lvl1pPr>
            <a:lvl2pPr indent="-298450" lvl="1" marL="914400">
              <a:lnSpc>
                <a:spcPct val="110000"/>
              </a:lnSpc>
              <a:spcBef>
                <a:spcPts val="1400"/>
              </a:spcBef>
              <a:spcAft>
                <a:spcPts val="0"/>
              </a:spcAft>
              <a:buSzPts val="1100"/>
              <a:buChar char="○"/>
              <a:defRPr sz="1100"/>
            </a:lvl2pPr>
            <a:lvl3pPr indent="-298450" lvl="2" marL="1371600">
              <a:lnSpc>
                <a:spcPct val="110000"/>
              </a:lnSpc>
              <a:spcBef>
                <a:spcPts val="1400"/>
              </a:spcBef>
              <a:spcAft>
                <a:spcPts val="0"/>
              </a:spcAft>
              <a:buSzPts val="1100"/>
              <a:buChar char="■"/>
              <a:defRPr sz="1100"/>
            </a:lvl3pPr>
            <a:lvl4pPr indent="-298450" lvl="3" marL="1828800">
              <a:lnSpc>
                <a:spcPct val="110000"/>
              </a:lnSpc>
              <a:spcBef>
                <a:spcPts val="1400"/>
              </a:spcBef>
              <a:spcAft>
                <a:spcPts val="0"/>
              </a:spcAft>
              <a:buSzPts val="1100"/>
              <a:buChar char="●"/>
              <a:defRPr sz="1100"/>
            </a:lvl4pPr>
            <a:lvl5pPr indent="-298450" lvl="4" marL="2286000">
              <a:lnSpc>
                <a:spcPct val="110000"/>
              </a:lnSpc>
              <a:spcBef>
                <a:spcPts val="1400"/>
              </a:spcBef>
              <a:spcAft>
                <a:spcPts val="0"/>
              </a:spcAft>
              <a:buSzPts val="1100"/>
              <a:buChar char="○"/>
              <a:defRPr sz="1100"/>
            </a:lvl5pPr>
            <a:lvl6pPr indent="-304800" lvl="5" marL="2743200">
              <a:lnSpc>
                <a:spcPct val="110000"/>
              </a:lnSpc>
              <a:spcBef>
                <a:spcPts val="1400"/>
              </a:spcBef>
              <a:spcAft>
                <a:spcPts val="0"/>
              </a:spcAft>
              <a:buSzPts val="1200"/>
              <a:buChar char="■"/>
              <a:defRPr sz="1200"/>
            </a:lvl6pPr>
            <a:lvl7pPr indent="-304800" lvl="6" marL="3200400">
              <a:lnSpc>
                <a:spcPct val="110000"/>
              </a:lnSpc>
              <a:spcBef>
                <a:spcPts val="1400"/>
              </a:spcBef>
              <a:spcAft>
                <a:spcPts val="0"/>
              </a:spcAft>
              <a:buSzPts val="1200"/>
              <a:buChar char="●"/>
              <a:defRPr sz="1200"/>
            </a:lvl7pPr>
            <a:lvl8pPr indent="-304800" lvl="7" marL="3657600">
              <a:lnSpc>
                <a:spcPct val="110000"/>
              </a:lnSpc>
              <a:spcBef>
                <a:spcPts val="1400"/>
              </a:spcBef>
              <a:spcAft>
                <a:spcPts val="0"/>
              </a:spcAft>
              <a:buSzPts val="1200"/>
              <a:buChar char="○"/>
              <a:defRPr sz="1200"/>
            </a:lvl8pPr>
            <a:lvl9pPr indent="-304800" lvl="8" marL="4114800">
              <a:lnSpc>
                <a:spcPct val="110000"/>
              </a:lnSpc>
              <a:spcBef>
                <a:spcPts val="1400"/>
              </a:spcBef>
              <a:spcAft>
                <a:spcPts val="1400"/>
              </a:spcAft>
              <a:buSzPts val="1200"/>
              <a:buChar char="■"/>
              <a:defRPr sz="1200"/>
            </a:lvl9pPr>
          </a:lstStyle>
          <a:p/>
        </p:txBody>
      </p:sp>
      <p:sp>
        <p:nvSpPr>
          <p:cNvPr id="74" name="Google Shape;74;p17"/>
          <p:cNvSpPr txBox="1"/>
          <p:nvPr>
            <p:ph idx="2" type="subTitle"/>
          </p:nvPr>
        </p:nvSpPr>
        <p:spPr>
          <a:xfrm>
            <a:off x="410766" y="1055794"/>
            <a:ext cx="5595600" cy="3243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1800"/>
              <a:buNone/>
              <a:defRPr b="1" sz="1800"/>
            </a:lvl1pPr>
            <a:lvl2pPr lvl="1" algn="ctr">
              <a:lnSpc>
                <a:spcPct val="110000"/>
              </a:lnSpc>
              <a:spcBef>
                <a:spcPts val="1100"/>
              </a:spcBef>
              <a:spcAft>
                <a:spcPts val="0"/>
              </a:spcAft>
              <a:buClr>
                <a:schemeClr val="dk1"/>
              </a:buClr>
              <a:buSzPts val="1500"/>
              <a:buNone/>
              <a:defRPr b="1" sz="1500"/>
            </a:lvl2pPr>
            <a:lvl3pPr lvl="2" algn="ctr">
              <a:lnSpc>
                <a:spcPct val="110000"/>
              </a:lnSpc>
              <a:spcBef>
                <a:spcPts val="1100"/>
              </a:spcBef>
              <a:spcAft>
                <a:spcPts val="0"/>
              </a:spcAft>
              <a:buClr>
                <a:schemeClr val="dk1"/>
              </a:buClr>
              <a:buSzPts val="1400"/>
              <a:buNone/>
              <a:defRPr b="1" sz="1400"/>
            </a:lvl3pPr>
            <a:lvl4pPr lvl="3" algn="ctr">
              <a:lnSpc>
                <a:spcPct val="110000"/>
              </a:lnSpc>
              <a:spcBef>
                <a:spcPts val="1100"/>
              </a:spcBef>
              <a:spcAft>
                <a:spcPts val="0"/>
              </a:spcAft>
              <a:buClr>
                <a:schemeClr val="dk1"/>
              </a:buClr>
              <a:buSzPts val="1200"/>
              <a:buNone/>
              <a:defRPr b="1" sz="1200"/>
            </a:lvl4pPr>
            <a:lvl5pPr lvl="4" algn="ctr">
              <a:lnSpc>
                <a:spcPct val="110000"/>
              </a:lnSpc>
              <a:spcBef>
                <a:spcPts val="1100"/>
              </a:spcBef>
              <a:spcAft>
                <a:spcPts val="0"/>
              </a:spcAft>
              <a:buClr>
                <a:schemeClr val="dk1"/>
              </a:buClr>
              <a:buSzPts val="1200"/>
              <a:buNone/>
              <a:defRPr b="1" sz="1200"/>
            </a:lvl5pPr>
            <a:lvl6pPr lvl="5" algn="ctr">
              <a:lnSpc>
                <a:spcPct val="90000"/>
              </a:lnSpc>
              <a:spcBef>
                <a:spcPts val="1100"/>
              </a:spcBef>
              <a:spcAft>
                <a:spcPts val="0"/>
              </a:spcAft>
              <a:buClr>
                <a:schemeClr val="dk1"/>
              </a:buClr>
              <a:buSzPts val="1200"/>
              <a:buNone/>
              <a:defRPr b="1" sz="1200"/>
            </a:lvl6pPr>
            <a:lvl7pPr lvl="6" algn="ctr">
              <a:lnSpc>
                <a:spcPct val="90000"/>
              </a:lnSpc>
              <a:spcBef>
                <a:spcPts val="1600"/>
              </a:spcBef>
              <a:spcAft>
                <a:spcPts val="0"/>
              </a:spcAft>
              <a:buClr>
                <a:schemeClr val="dk1"/>
              </a:buClr>
              <a:buSzPts val="1200"/>
              <a:buNone/>
              <a:defRPr b="1" sz="1200"/>
            </a:lvl7pPr>
            <a:lvl8pPr lvl="7" algn="ctr">
              <a:lnSpc>
                <a:spcPct val="90000"/>
              </a:lnSpc>
              <a:spcBef>
                <a:spcPts val="1600"/>
              </a:spcBef>
              <a:spcAft>
                <a:spcPts val="0"/>
              </a:spcAft>
              <a:buClr>
                <a:schemeClr val="dk1"/>
              </a:buClr>
              <a:buSzPts val="1200"/>
              <a:buNone/>
              <a:defRPr b="1" sz="1200"/>
            </a:lvl8pPr>
            <a:lvl9pPr lvl="8" algn="ctr">
              <a:lnSpc>
                <a:spcPct val="90000"/>
              </a:lnSpc>
              <a:spcBef>
                <a:spcPts val="1600"/>
              </a:spcBef>
              <a:spcAft>
                <a:spcPts val="1600"/>
              </a:spcAft>
              <a:buClr>
                <a:schemeClr val="dk1"/>
              </a:buClr>
              <a:buSzPts val="1200"/>
              <a:buNone/>
              <a:defRPr b="1"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 name="Shape 77"/>
        <p:cNvGrpSpPr/>
        <p:nvPr/>
      </p:nvGrpSpPr>
      <p:grpSpPr>
        <a:xfrm>
          <a:off x="0" y="0"/>
          <a:ext cx="0" cy="0"/>
          <a:chOff x="0" y="0"/>
          <a:chExt cx="0" cy="0"/>
        </a:xfrm>
      </p:grpSpPr>
      <p:sp>
        <p:nvSpPr>
          <p:cNvPr id="78" name="Google Shape;78;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79" name="Google Shape;79;p20"/>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0" name="Google Shape;8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1" name="Shape 81"/>
        <p:cNvGrpSpPr/>
        <p:nvPr/>
      </p:nvGrpSpPr>
      <p:grpSpPr>
        <a:xfrm>
          <a:off x="0" y="0"/>
          <a:ext cx="0" cy="0"/>
          <a:chOff x="0" y="0"/>
          <a:chExt cx="0" cy="0"/>
        </a:xfrm>
      </p:grpSpPr>
      <p:sp>
        <p:nvSpPr>
          <p:cNvPr id="82" name="Google Shape;82;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83" name="Google Shape;83;p21"/>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4" name="Google Shape;8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Avenir"/>
              <a:buChar char="●"/>
              <a:defRPr sz="1800">
                <a:solidFill>
                  <a:schemeClr val="dk2"/>
                </a:solidFill>
                <a:latin typeface="Avenir"/>
                <a:ea typeface="Avenir"/>
                <a:cs typeface="Avenir"/>
                <a:sym typeface="Avenir"/>
              </a:defRPr>
            </a:lvl1pPr>
            <a:lvl2pPr indent="-317500" lvl="1" marL="9144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2pPr>
            <a:lvl3pPr indent="-317500" lvl="2" marL="13716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3pPr>
            <a:lvl4pPr indent="-317500" lvl="3" marL="18288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4pPr>
            <a:lvl5pPr indent="-317500" lvl="4" marL="22860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5pPr>
            <a:lvl6pPr indent="-317500" lvl="5" marL="27432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6pPr>
            <a:lvl7pPr indent="-317500" lvl="6" marL="32004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7pPr>
            <a:lvl8pPr indent="-317500" lvl="7" marL="3657600">
              <a:lnSpc>
                <a:spcPct val="115000"/>
              </a:lnSpc>
              <a:spcBef>
                <a:spcPts val="1600"/>
              </a:spcBef>
              <a:spcAft>
                <a:spcPts val="0"/>
              </a:spcAft>
              <a:buClr>
                <a:schemeClr val="dk2"/>
              </a:buClr>
              <a:buSzPts val="1400"/>
              <a:buFont typeface="Avenir"/>
              <a:buChar char="○"/>
              <a:defRPr>
                <a:solidFill>
                  <a:schemeClr val="dk2"/>
                </a:solidFill>
                <a:latin typeface="Avenir"/>
                <a:ea typeface="Avenir"/>
                <a:cs typeface="Avenir"/>
                <a:sym typeface="Avenir"/>
              </a:defRPr>
            </a:lvl8pPr>
            <a:lvl9pPr indent="-317500" lvl="8" marL="4114800">
              <a:lnSpc>
                <a:spcPct val="115000"/>
              </a:lnSpc>
              <a:spcBef>
                <a:spcPts val="1600"/>
              </a:spcBef>
              <a:spcAft>
                <a:spcPts val="1600"/>
              </a:spcAft>
              <a:buClr>
                <a:schemeClr val="dk2"/>
              </a:buClr>
              <a:buSzPts val="1400"/>
              <a:buFont typeface="Avenir"/>
              <a:buChar char="■"/>
              <a:defRPr>
                <a:solidFill>
                  <a:schemeClr val="dk2"/>
                </a:solidFill>
                <a:latin typeface="Avenir"/>
                <a:ea typeface="Avenir"/>
                <a:cs typeface="Avenir"/>
                <a:sym typeface="Aveni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5.gif"/><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8.png"/><Relationship Id="rId9" Type="http://schemas.openxmlformats.org/officeDocument/2006/relationships/image" Target="../media/image17.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20.png"/><Relationship Id="rId8"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hyperlink" Target="https://arxiv.org/abs/2408.11969" TargetMode="External"/><Relationship Id="rId7"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hyperlink" Target="https://arxiv.org/pdf/2608.21677" TargetMode="External"/><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comments" Target="../comments/comment2.xml"/><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BFE"/>
        </a:solidFill>
      </p:bgPr>
    </p:bg>
    <p:spTree>
      <p:nvGrpSpPr>
        <p:cNvPr id="88" name="Shape 88"/>
        <p:cNvGrpSpPr/>
        <p:nvPr/>
      </p:nvGrpSpPr>
      <p:grpSpPr>
        <a:xfrm>
          <a:off x="0" y="0"/>
          <a:ext cx="0" cy="0"/>
          <a:chOff x="0" y="0"/>
          <a:chExt cx="0" cy="0"/>
        </a:xfrm>
      </p:grpSpPr>
      <p:pic>
        <p:nvPicPr>
          <p:cNvPr id="89" name="Google Shape;89;p22" title="plflow.gif"/>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90" name="Google Shape;90;p22"/>
          <p:cNvPicPr preferRelativeResize="0"/>
          <p:nvPr/>
        </p:nvPicPr>
        <p:blipFill rotWithShape="1">
          <a:blip r:embed="rId4">
            <a:alphaModFix/>
          </a:blip>
          <a:srcRect b="42263" l="25694" r="10943" t="41807"/>
          <a:stretch/>
        </p:blipFill>
        <p:spPr>
          <a:xfrm>
            <a:off x="344311" y="398675"/>
            <a:ext cx="4662625" cy="1172175"/>
          </a:xfrm>
          <a:prstGeom prst="rect">
            <a:avLst/>
          </a:prstGeom>
          <a:noFill/>
          <a:ln>
            <a:noFill/>
          </a:ln>
          <a:effectLst>
            <a:outerShdw blurRad="57150" rotWithShape="0" algn="bl" dir="5400000" dist="19050">
              <a:srgbClr val="332991">
                <a:alpha val="83000"/>
              </a:srgbClr>
            </a:outerShdw>
          </a:effectLst>
        </p:spPr>
      </p:pic>
      <p:sp>
        <p:nvSpPr>
          <p:cNvPr id="91" name="Google Shape;91;p22"/>
          <p:cNvSpPr/>
          <p:nvPr/>
        </p:nvSpPr>
        <p:spPr>
          <a:xfrm>
            <a:off x="388393" y="1305842"/>
            <a:ext cx="4590900" cy="442800"/>
          </a:xfrm>
          <a:prstGeom prst="roundRect">
            <a:avLst>
              <a:gd fmla="val 0" name="adj"/>
            </a:avLst>
          </a:prstGeom>
          <a:noFill/>
          <a:ln>
            <a:noFill/>
          </a:ln>
          <a:effectLst>
            <a:outerShdw blurRad="57150" rotWithShape="0" algn="bl" dir="5400000" dist="19050">
              <a:srgbClr val="0C164F"/>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rgbClr val="FCFBFE"/>
                </a:solidFill>
                <a:latin typeface="Montserrat"/>
                <a:ea typeface="Montserrat"/>
                <a:cs typeface="Montserrat"/>
                <a:sym typeface="Montserrat"/>
              </a:rPr>
              <a:t>Tap into the source code of reality</a:t>
            </a:r>
            <a:endParaRPr sz="1500">
              <a:solidFill>
                <a:srgbClr val="FCFBFE"/>
              </a:solidFill>
              <a:latin typeface="Montserrat"/>
              <a:ea typeface="Montserrat"/>
              <a:cs typeface="Montserrat"/>
              <a:sym typeface="Montserrat"/>
            </a:endParaRPr>
          </a:p>
        </p:txBody>
      </p:sp>
      <p:sp>
        <p:nvSpPr>
          <p:cNvPr id="92" name="Google Shape;92;p22"/>
          <p:cNvSpPr txBox="1"/>
          <p:nvPr/>
        </p:nvSpPr>
        <p:spPr>
          <a:xfrm>
            <a:off x="491100" y="3490025"/>
            <a:ext cx="6849600" cy="734700"/>
          </a:xfrm>
          <a:prstGeom prst="rect">
            <a:avLst/>
          </a:prstGeom>
          <a:noFill/>
          <a:ln>
            <a:noFill/>
          </a:ln>
          <a:effectLst>
            <a:outerShdw blurRad="57150" rotWithShape="0" algn="bl" dir="5400000" dist="19050">
              <a:schemeClr val="dk1">
                <a:alpha val="83000"/>
              </a:schemeClr>
            </a:outerShdw>
          </a:effectLst>
        </p:spPr>
        <p:txBody>
          <a:bodyPr anchorCtr="0" anchor="t" bIns="0" lIns="0" spcFirstLastPara="1" rIns="0" wrap="square" tIns="0">
            <a:noAutofit/>
          </a:bodyPr>
          <a:lstStyle/>
          <a:p>
            <a:pPr indent="0" lvl="0" marL="0" marR="0" rtl="0" algn="l">
              <a:lnSpc>
                <a:spcPct val="80000"/>
              </a:lnSpc>
              <a:spcBef>
                <a:spcPts val="0"/>
              </a:spcBef>
              <a:spcAft>
                <a:spcPts val="0"/>
              </a:spcAft>
              <a:buClr>
                <a:srgbClr val="FFFFFF"/>
              </a:buClr>
              <a:buSzPts val="700"/>
              <a:buFont typeface="Montserrat Light"/>
              <a:buNone/>
            </a:pPr>
            <a:r>
              <a:rPr lang="en">
                <a:solidFill>
                  <a:srgbClr val="F3F3F3"/>
                </a:solidFill>
                <a:latin typeface="Ubuntu"/>
                <a:ea typeface="Ubuntu"/>
                <a:cs typeface="Ubuntu"/>
                <a:sym typeface="Ubuntu"/>
              </a:rPr>
              <a:t>Physics-Informed AI for Real-World Engineering</a:t>
            </a:r>
            <a:endParaRPr>
              <a:solidFill>
                <a:srgbClr val="F3F3F3"/>
              </a:solidFill>
              <a:latin typeface="Ubuntu"/>
              <a:ea typeface="Ubuntu"/>
              <a:cs typeface="Ubuntu"/>
              <a:sym typeface="Ubuntu"/>
            </a:endParaRPr>
          </a:p>
          <a:p>
            <a:pPr indent="0" lvl="0" marL="0" rtl="0" algn="l">
              <a:lnSpc>
                <a:spcPct val="80000"/>
              </a:lnSpc>
              <a:spcBef>
                <a:spcPts val="0"/>
              </a:spcBef>
              <a:spcAft>
                <a:spcPts val="0"/>
              </a:spcAft>
              <a:buClr>
                <a:schemeClr val="lt1"/>
              </a:buClr>
              <a:buSzPts val="700"/>
              <a:buFont typeface="Montserrat Light"/>
              <a:buNone/>
            </a:pPr>
            <a:r>
              <a:t/>
            </a:r>
            <a:endParaRPr sz="1000">
              <a:solidFill>
                <a:schemeClr val="lt1"/>
              </a:solidFill>
              <a:latin typeface="Ubuntu"/>
              <a:ea typeface="Ubuntu"/>
              <a:cs typeface="Ubuntu"/>
              <a:sym typeface="Ubuntu"/>
            </a:endParaRPr>
          </a:p>
          <a:p>
            <a:pPr indent="0" lvl="0" marL="0" rtl="0" algn="l">
              <a:lnSpc>
                <a:spcPct val="80000"/>
              </a:lnSpc>
              <a:spcBef>
                <a:spcPts val="0"/>
              </a:spcBef>
              <a:spcAft>
                <a:spcPts val="0"/>
              </a:spcAft>
              <a:buClr>
                <a:schemeClr val="lt1"/>
              </a:buClr>
              <a:buSzPts val="700"/>
              <a:buFont typeface="Montserrat Light"/>
              <a:buNone/>
            </a:pPr>
            <a:r>
              <a:rPr lang="en">
                <a:solidFill>
                  <a:srgbClr val="F3F3F3"/>
                </a:solidFill>
                <a:latin typeface="Ubuntu"/>
                <a:ea typeface="Ubuntu"/>
                <a:cs typeface="Ubuntu"/>
                <a:sym typeface="Ubuntu"/>
              </a:rPr>
              <a:t>Nikolas Borrel-Jensen, Simulation Intelligence Engineer</a:t>
            </a:r>
            <a:endParaRPr>
              <a:solidFill>
                <a:srgbClr val="F3F3F3"/>
              </a:solidFill>
              <a:latin typeface="Ubuntu"/>
              <a:ea typeface="Ubuntu"/>
              <a:cs typeface="Ubuntu"/>
              <a:sym typeface="Ubuntu"/>
            </a:endParaRPr>
          </a:p>
          <a:p>
            <a:pPr indent="0" lvl="0" marL="0" rtl="0" algn="l">
              <a:lnSpc>
                <a:spcPct val="80000"/>
              </a:lnSpc>
              <a:spcBef>
                <a:spcPts val="0"/>
              </a:spcBef>
              <a:spcAft>
                <a:spcPts val="0"/>
              </a:spcAft>
              <a:buClr>
                <a:schemeClr val="lt1"/>
              </a:buClr>
              <a:buSzPts val="700"/>
              <a:buFont typeface="Montserrat Light"/>
              <a:buNone/>
            </a:pPr>
            <a:r>
              <a:t/>
            </a:r>
            <a:endParaRPr>
              <a:solidFill>
                <a:srgbClr val="F3F3F3"/>
              </a:solidFill>
              <a:latin typeface="Ubuntu"/>
              <a:ea typeface="Ubuntu"/>
              <a:cs typeface="Ubuntu"/>
              <a:sym typeface="Ubuntu"/>
            </a:endParaRPr>
          </a:p>
          <a:p>
            <a:pPr indent="0" lvl="0" marL="0" rtl="0" algn="l">
              <a:lnSpc>
                <a:spcPct val="80000"/>
              </a:lnSpc>
              <a:spcBef>
                <a:spcPts val="0"/>
              </a:spcBef>
              <a:spcAft>
                <a:spcPts val="0"/>
              </a:spcAft>
              <a:buClr>
                <a:schemeClr val="lt1"/>
              </a:buClr>
              <a:buSzPts val="700"/>
              <a:buFont typeface="Montserrat Light"/>
              <a:buNone/>
            </a:pPr>
            <a:r>
              <a:rPr lang="en" sz="1000">
                <a:solidFill>
                  <a:schemeClr val="lt1"/>
                </a:solidFill>
                <a:latin typeface="Ubuntu"/>
                <a:ea typeface="Ubuntu"/>
                <a:cs typeface="Ubuntu"/>
                <a:sym typeface="Ubuntu"/>
              </a:rPr>
              <a:t>D3A, Nyborg, Denmark, October </a:t>
            </a:r>
            <a:r>
              <a:rPr lang="en" sz="1000">
                <a:solidFill>
                  <a:schemeClr val="lt1"/>
                </a:solidFill>
                <a:latin typeface="Ubuntu"/>
                <a:ea typeface="Ubuntu"/>
                <a:cs typeface="Ubuntu"/>
                <a:sym typeface="Ubuntu"/>
              </a:rPr>
              <a:t>8, 2026</a:t>
            </a:r>
            <a:endParaRPr sz="1000">
              <a:solidFill>
                <a:schemeClr val="lt1"/>
              </a:solidFill>
              <a:latin typeface="Ubuntu"/>
              <a:ea typeface="Ubuntu"/>
              <a:cs typeface="Ubuntu"/>
              <a:sym typeface="Ubuntu"/>
            </a:endParaRPr>
          </a:p>
          <a:p>
            <a:pPr indent="0" lvl="0" marL="0" rtl="0" algn="l">
              <a:lnSpc>
                <a:spcPct val="80000"/>
              </a:lnSpc>
              <a:spcBef>
                <a:spcPts val="0"/>
              </a:spcBef>
              <a:spcAft>
                <a:spcPts val="0"/>
              </a:spcAft>
              <a:buClr>
                <a:schemeClr val="lt1"/>
              </a:buClr>
              <a:buSzPts val="700"/>
              <a:buFont typeface="Montserrat Light"/>
              <a:buNone/>
            </a:pPr>
            <a:r>
              <a:t/>
            </a:r>
            <a:endParaRPr sz="1000">
              <a:solidFill>
                <a:schemeClr val="lt1"/>
              </a:solidFill>
              <a:latin typeface="Ubuntu"/>
              <a:ea typeface="Ubuntu"/>
              <a:cs typeface="Ubuntu"/>
              <a:sym typeface="Ubuntu"/>
            </a:endParaRPr>
          </a:p>
        </p:txBody>
      </p:sp>
      <p:sp>
        <p:nvSpPr>
          <p:cNvPr id="93" name="Google Shape;93;p22"/>
          <p:cNvSpPr txBox="1"/>
          <p:nvPr/>
        </p:nvSpPr>
        <p:spPr>
          <a:xfrm>
            <a:off x="3753024" y="4773264"/>
            <a:ext cx="5332500" cy="3000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 sz="750">
                <a:solidFill>
                  <a:srgbClr val="EFEFEF"/>
                </a:solidFill>
                <a:latin typeface="Rubik"/>
                <a:ea typeface="Rubik"/>
                <a:cs typeface="Rubik"/>
                <a:sym typeface="Rubik"/>
              </a:rPr>
              <a:t>Not for redistribution without express permission of Pasteur Labs designated representatives.</a:t>
            </a:r>
            <a:endParaRPr sz="700">
              <a:solidFill>
                <a:srgbClr val="EFEFE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23"/>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Program – D3A, Nyborg, Denmark, October 8, 2026</a:t>
            </a:r>
            <a:endParaRPr i="0" sz="2100" u="none" cap="none" strike="noStrike">
              <a:solidFill>
                <a:schemeClr val="dk1"/>
              </a:solidFill>
              <a:latin typeface="Ubuntu Light"/>
              <a:ea typeface="Ubuntu Light"/>
              <a:cs typeface="Ubuntu Light"/>
              <a:sym typeface="Ubuntu Light"/>
            </a:endParaRPr>
          </a:p>
        </p:txBody>
      </p:sp>
      <p:pic>
        <p:nvPicPr>
          <p:cNvPr descr="preencoded.png" id="100" name="Google Shape;100;p23"/>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sp>
        <p:nvSpPr>
          <p:cNvPr id="101" name="Google Shape;101;p23"/>
          <p:cNvSpPr/>
          <p:nvPr/>
        </p:nvSpPr>
        <p:spPr>
          <a:xfrm>
            <a:off x="411475" y="868776"/>
            <a:ext cx="8321100" cy="19047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1100"/>
              <a:buFont typeface="Arial"/>
              <a:buNone/>
            </a:pPr>
            <a:r>
              <a:rPr lang="en" sz="1200">
                <a:solidFill>
                  <a:srgbClr val="262626"/>
                </a:solidFill>
                <a:latin typeface="Lato"/>
                <a:ea typeface="Lato"/>
                <a:cs typeface="Lato"/>
                <a:sym typeface="Lato"/>
              </a:rPr>
              <a:t>Thursday 8 October 11.00</a:t>
            </a:r>
            <a:endParaRPr sz="1200">
              <a:solidFill>
                <a:srgbClr val="262626"/>
              </a:solidFill>
              <a:latin typeface="Lato"/>
              <a:ea typeface="Lato"/>
              <a:cs typeface="Lato"/>
              <a:sym typeface="Lato"/>
            </a:endParaRPr>
          </a:p>
          <a:p>
            <a:pPr indent="0" lvl="0" marL="0" rtl="0" algn="l">
              <a:lnSpc>
                <a:spcPct val="150000"/>
              </a:lnSpc>
              <a:spcBef>
                <a:spcPts val="0"/>
              </a:spcBef>
              <a:spcAft>
                <a:spcPts val="0"/>
              </a:spcAft>
              <a:buClr>
                <a:schemeClr val="dk1"/>
              </a:buClr>
              <a:buSzPts val="1100"/>
              <a:buFont typeface="Arial"/>
              <a:buNone/>
            </a:pPr>
            <a:br>
              <a:rPr lang="en" sz="1200">
                <a:solidFill>
                  <a:srgbClr val="262626"/>
                </a:solidFill>
                <a:latin typeface="Lato"/>
                <a:ea typeface="Lato"/>
                <a:cs typeface="Lato"/>
                <a:sym typeface="Lato"/>
              </a:rPr>
            </a:br>
            <a:r>
              <a:rPr lang="en" sz="1200">
                <a:solidFill>
                  <a:srgbClr val="262626"/>
                </a:solidFill>
                <a:latin typeface="Lato"/>
                <a:ea typeface="Lato"/>
                <a:cs typeface="Lato"/>
                <a:sym typeface="Lato"/>
              </a:rPr>
              <a:t>11:10 - 11:20    Landscape framing</a:t>
            </a:r>
            <a:r>
              <a:rPr lang="en" sz="1200">
                <a:solidFill>
                  <a:srgbClr val="262626"/>
                </a:solidFill>
                <a:latin typeface="Lato Light"/>
                <a:ea typeface="Lato Light"/>
                <a:cs typeface="Lato Light"/>
                <a:sym typeface="Lato Light"/>
              </a:rPr>
              <a:t> </a:t>
            </a:r>
            <a:r>
              <a:rPr lang="en" sz="1000">
                <a:solidFill>
                  <a:srgbClr val="262626"/>
                </a:solidFill>
                <a:latin typeface="Lato Light"/>
                <a:ea typeface="Lato Light"/>
                <a:cs typeface="Lato Light"/>
                <a:sym typeface="Lato Light"/>
              </a:rPr>
              <a:t>(Nikolas Borrel-Jensen)</a:t>
            </a:r>
            <a:endParaRPr sz="10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Clr>
                <a:schemeClr val="dk1"/>
              </a:buClr>
              <a:buSzPts val="1100"/>
              <a:buFont typeface="Arial"/>
              <a:buNone/>
            </a:pPr>
            <a:r>
              <a:rPr lang="en" sz="1200">
                <a:solidFill>
                  <a:srgbClr val="262626"/>
                </a:solidFill>
                <a:latin typeface="Lato"/>
                <a:ea typeface="Lato"/>
                <a:cs typeface="Lato"/>
                <a:sym typeface="Lato"/>
              </a:rPr>
              <a:t>11:20 - 11</a:t>
            </a:r>
            <a:r>
              <a:rPr lang="en" sz="1200">
                <a:solidFill>
                  <a:srgbClr val="262626"/>
                </a:solidFill>
                <a:latin typeface="Lato"/>
                <a:ea typeface="Lato"/>
                <a:cs typeface="Lato"/>
                <a:sym typeface="Lato"/>
              </a:rPr>
              <a:t>:40</a:t>
            </a:r>
            <a:r>
              <a:rPr lang="en" sz="1200">
                <a:solidFill>
                  <a:srgbClr val="262626"/>
                </a:solidFill>
                <a:latin typeface="Lato"/>
                <a:ea typeface="Lato"/>
                <a:cs typeface="Lato"/>
                <a:sym typeface="Lato"/>
              </a:rPr>
              <a:t>    2 lightning talk </a:t>
            </a:r>
            <a:r>
              <a:rPr lang="en" sz="1000">
                <a:solidFill>
                  <a:srgbClr val="262626"/>
                </a:solidFill>
                <a:latin typeface="Lato Light"/>
                <a:ea typeface="Lato Light"/>
                <a:cs typeface="Lato Light"/>
                <a:sym typeface="Lato Light"/>
              </a:rPr>
              <a:t>(Niels Skovgaard Jensen and Jakob Tanderup)</a:t>
            </a:r>
            <a:endParaRPr sz="1000">
              <a:solidFill>
                <a:srgbClr val="262626"/>
              </a:solidFill>
              <a:latin typeface="Lato Light"/>
              <a:ea typeface="Lato Light"/>
              <a:cs typeface="Lato Light"/>
              <a:sym typeface="Lato Light"/>
            </a:endParaRPr>
          </a:p>
          <a:p>
            <a:pPr indent="0" lvl="0" marL="0" marR="0" rtl="0" algn="l">
              <a:lnSpc>
                <a:spcPct val="150000"/>
              </a:lnSpc>
              <a:spcBef>
                <a:spcPts val="0"/>
              </a:spcBef>
              <a:spcAft>
                <a:spcPts val="0"/>
              </a:spcAft>
              <a:buClr>
                <a:srgbClr val="6B7280"/>
              </a:buClr>
              <a:buSzPts val="1100"/>
              <a:buFont typeface="Lato"/>
              <a:buNone/>
            </a:pPr>
            <a:r>
              <a:rPr lang="en" sz="1200">
                <a:solidFill>
                  <a:srgbClr val="262626"/>
                </a:solidFill>
                <a:latin typeface="Lato"/>
                <a:ea typeface="Lato"/>
                <a:cs typeface="Lato"/>
                <a:sym typeface="Lato"/>
              </a:rPr>
              <a:t>11:40 - 12:10    </a:t>
            </a:r>
            <a:r>
              <a:rPr lang="en" sz="1200">
                <a:solidFill>
                  <a:srgbClr val="262626"/>
                </a:solidFill>
                <a:latin typeface="Lato"/>
                <a:ea typeface="Lato"/>
                <a:cs typeface="Lato"/>
                <a:sym typeface="Lato"/>
              </a:rPr>
              <a:t>Live tutorial </a:t>
            </a:r>
            <a:r>
              <a:rPr lang="en" sz="1000">
                <a:solidFill>
                  <a:srgbClr val="262626"/>
                </a:solidFill>
                <a:latin typeface="Lato Light"/>
                <a:ea typeface="Lato Light"/>
                <a:cs typeface="Lato Light"/>
                <a:sym typeface="Lato Light"/>
              </a:rPr>
              <a:t>(Dion Haefner)</a:t>
            </a:r>
            <a:endParaRPr sz="1000">
              <a:solidFill>
                <a:srgbClr val="262626"/>
              </a:solidFill>
              <a:latin typeface="Lato Light"/>
              <a:ea typeface="Lato Light"/>
              <a:cs typeface="Lato Light"/>
              <a:sym typeface="Lato Light"/>
            </a:endParaRPr>
          </a:p>
          <a:p>
            <a:pPr indent="0" lvl="0" marL="0" marR="0" rtl="0" algn="l">
              <a:lnSpc>
                <a:spcPct val="150000"/>
              </a:lnSpc>
              <a:spcBef>
                <a:spcPts val="0"/>
              </a:spcBef>
              <a:spcAft>
                <a:spcPts val="0"/>
              </a:spcAft>
              <a:buClr>
                <a:srgbClr val="6B7280"/>
              </a:buClr>
              <a:buSzPts val="1100"/>
              <a:buFont typeface="Lato"/>
              <a:buNone/>
            </a:pPr>
            <a:r>
              <a:rPr lang="en" sz="1200">
                <a:solidFill>
                  <a:srgbClr val="262626"/>
                </a:solidFill>
                <a:latin typeface="Lato"/>
                <a:ea typeface="Lato"/>
                <a:cs typeface="Lato"/>
                <a:sym typeface="Lato"/>
              </a:rPr>
              <a:t>12:10 - 12:30    Structured discussion </a:t>
            </a:r>
            <a:r>
              <a:rPr lang="en" sz="1000">
                <a:solidFill>
                  <a:srgbClr val="262626"/>
                </a:solidFill>
                <a:latin typeface="Lato Light"/>
                <a:ea typeface="Lato Light"/>
                <a:cs typeface="Lato Light"/>
                <a:sym typeface="Lato Light"/>
              </a:rPr>
              <a:t>(</a:t>
            </a:r>
            <a:r>
              <a:rPr lang="en" sz="1000">
                <a:solidFill>
                  <a:srgbClr val="262626"/>
                </a:solidFill>
                <a:latin typeface="Lato Light"/>
                <a:ea typeface="Lato Light"/>
                <a:cs typeface="Lato Light"/>
                <a:sym typeface="Lato Light"/>
              </a:rPr>
              <a:t>Allan P. Engsig-Karup</a:t>
            </a:r>
            <a:r>
              <a:rPr lang="en" sz="1000">
                <a:solidFill>
                  <a:srgbClr val="262626"/>
                </a:solidFill>
                <a:latin typeface="Lato Light"/>
                <a:ea typeface="Lato Light"/>
                <a:cs typeface="Lato Light"/>
                <a:sym typeface="Lato Light"/>
              </a:rPr>
              <a:t>)</a:t>
            </a:r>
            <a:endParaRPr sz="1000">
              <a:solidFill>
                <a:srgbClr val="262626"/>
              </a:solidFill>
              <a:latin typeface="Lato Light"/>
              <a:ea typeface="Lato Light"/>
              <a:cs typeface="Lato Light"/>
              <a:sym typeface="Lato Light"/>
            </a:endParaRPr>
          </a:p>
        </p:txBody>
      </p:sp>
      <p:sp>
        <p:nvSpPr>
          <p:cNvPr id="102" name="Google Shape;102;p23"/>
          <p:cNvSpPr/>
          <p:nvPr/>
        </p:nvSpPr>
        <p:spPr>
          <a:xfrm>
            <a:off x="4061212" y="4643450"/>
            <a:ext cx="12030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GitHub repo</a:t>
            </a:r>
            <a:endParaRPr i="0" sz="1200" u="none" cap="none" strike="noStrike">
              <a:solidFill>
                <a:srgbClr val="262626"/>
              </a:solidFill>
              <a:latin typeface="Lato Light"/>
              <a:ea typeface="Lato Light"/>
              <a:cs typeface="Lato Light"/>
              <a:sym typeface="Lato Light"/>
            </a:endParaRPr>
          </a:p>
        </p:txBody>
      </p:sp>
      <p:pic>
        <p:nvPicPr>
          <p:cNvPr id="103" name="Google Shape;103;p23" title="D3A_logo_SORT.png"/>
          <p:cNvPicPr preferRelativeResize="0"/>
          <p:nvPr/>
        </p:nvPicPr>
        <p:blipFill>
          <a:blip r:embed="rId4">
            <a:alphaModFix/>
          </a:blip>
          <a:stretch>
            <a:fillRect/>
          </a:stretch>
        </p:blipFill>
        <p:spPr>
          <a:xfrm>
            <a:off x="307250" y="4739650"/>
            <a:ext cx="406753" cy="228600"/>
          </a:xfrm>
          <a:prstGeom prst="rect">
            <a:avLst/>
          </a:prstGeom>
          <a:noFill/>
          <a:ln>
            <a:noFill/>
          </a:ln>
        </p:spPr>
      </p:pic>
      <p:pic>
        <p:nvPicPr>
          <p:cNvPr id="104" name="Google Shape;104;p23" title="qr_workshop_repo.png"/>
          <p:cNvPicPr preferRelativeResize="0"/>
          <p:nvPr/>
        </p:nvPicPr>
        <p:blipFill>
          <a:blip r:embed="rId5">
            <a:alphaModFix/>
          </a:blip>
          <a:stretch>
            <a:fillRect/>
          </a:stretch>
        </p:blipFill>
        <p:spPr>
          <a:xfrm>
            <a:off x="3747913" y="2884350"/>
            <a:ext cx="1648213" cy="16482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24"/>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Organizers</a:t>
            </a:r>
            <a:endParaRPr i="0" sz="2100" u="none" cap="none" strike="noStrike">
              <a:solidFill>
                <a:schemeClr val="dk1"/>
              </a:solidFill>
              <a:latin typeface="Ubuntu Light"/>
              <a:ea typeface="Ubuntu Light"/>
              <a:cs typeface="Ubuntu Light"/>
              <a:sym typeface="Ubuntu Light"/>
            </a:endParaRPr>
          </a:p>
        </p:txBody>
      </p:sp>
      <p:pic>
        <p:nvPicPr>
          <p:cNvPr descr="preencoded.png" id="111" name="Google Shape;111;p24"/>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pic>
        <p:nvPicPr>
          <p:cNvPr id="112" name="Google Shape;112;p24" title="Screenshot 2026-10-06 at 15.56.44.png"/>
          <p:cNvPicPr preferRelativeResize="0"/>
          <p:nvPr/>
        </p:nvPicPr>
        <p:blipFill>
          <a:blip r:embed="rId4">
            <a:alphaModFix/>
          </a:blip>
          <a:stretch>
            <a:fillRect/>
          </a:stretch>
        </p:blipFill>
        <p:spPr>
          <a:xfrm>
            <a:off x="1528725" y="1052300"/>
            <a:ext cx="5646049" cy="3652826"/>
          </a:xfrm>
          <a:prstGeom prst="rect">
            <a:avLst/>
          </a:prstGeom>
          <a:noFill/>
          <a:ln>
            <a:noFill/>
          </a:ln>
        </p:spPr>
      </p:pic>
      <p:pic>
        <p:nvPicPr>
          <p:cNvPr id="113" name="Google Shape;113;p24" title="D3A_logo_SORT.png"/>
          <p:cNvPicPr preferRelativeResize="0"/>
          <p:nvPr/>
        </p:nvPicPr>
        <p:blipFill>
          <a:blip r:embed="rId5">
            <a:alphaModFix/>
          </a:blip>
          <a:stretch>
            <a:fillRect/>
          </a:stretch>
        </p:blipFill>
        <p:spPr>
          <a:xfrm>
            <a:off x="307250" y="4739650"/>
            <a:ext cx="406753" cy="2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25"/>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Physics-Informed AI for Real-World Engineering: </a:t>
            </a:r>
            <a:r>
              <a:rPr lang="en" sz="2100">
                <a:solidFill>
                  <a:srgbClr val="BA1E81"/>
                </a:solidFill>
                <a:latin typeface="Ubuntu Light"/>
                <a:ea typeface="Ubuntu Light"/>
                <a:cs typeface="Ubuntu Light"/>
                <a:sym typeface="Ubuntu Light"/>
              </a:rPr>
              <a:t>a slice through the landscape in 10 minutes</a:t>
            </a:r>
            <a:endParaRPr i="0" sz="2100" u="none" cap="none" strike="noStrike">
              <a:solidFill>
                <a:schemeClr val="dk1"/>
              </a:solidFill>
              <a:latin typeface="Ubuntu Light"/>
              <a:ea typeface="Ubuntu Light"/>
              <a:cs typeface="Ubuntu Light"/>
              <a:sym typeface="Ubuntu Light"/>
            </a:endParaRPr>
          </a:p>
        </p:txBody>
      </p:sp>
      <p:pic>
        <p:nvPicPr>
          <p:cNvPr descr="preencoded.png" id="120" name="Google Shape;120;p25"/>
          <p:cNvPicPr preferRelativeResize="0"/>
          <p:nvPr/>
        </p:nvPicPr>
        <p:blipFill rotWithShape="1">
          <a:blip r:embed="rId4">
            <a:alphaModFix/>
          </a:blip>
          <a:srcRect b="0" l="0" r="0" t="0"/>
          <a:stretch/>
        </p:blipFill>
        <p:spPr>
          <a:xfrm>
            <a:off x="7662672" y="4773168"/>
            <a:ext cx="1234440" cy="228600"/>
          </a:xfrm>
          <a:prstGeom prst="rect">
            <a:avLst/>
          </a:prstGeom>
          <a:noFill/>
          <a:ln>
            <a:noFill/>
          </a:ln>
        </p:spPr>
      </p:pic>
      <p:pic>
        <p:nvPicPr>
          <p:cNvPr descr="image.png" id="121" name="Google Shape;121;p25"/>
          <p:cNvPicPr preferRelativeResize="0"/>
          <p:nvPr/>
        </p:nvPicPr>
        <p:blipFill>
          <a:blip r:embed="rId5">
            <a:alphaModFix/>
          </a:blip>
          <a:stretch>
            <a:fillRect/>
          </a:stretch>
        </p:blipFill>
        <p:spPr>
          <a:xfrm>
            <a:off x="2178650" y="986375"/>
            <a:ext cx="4974874" cy="3731150"/>
          </a:xfrm>
          <a:prstGeom prst="rect">
            <a:avLst/>
          </a:prstGeom>
          <a:noFill/>
          <a:ln>
            <a:noFill/>
          </a:ln>
        </p:spPr>
      </p:pic>
      <p:pic>
        <p:nvPicPr>
          <p:cNvPr id="122" name="Google Shape;122;p25" title="D3A_logo_SORT.png"/>
          <p:cNvPicPr preferRelativeResize="0"/>
          <p:nvPr/>
        </p:nvPicPr>
        <p:blipFill>
          <a:blip r:embed="rId6">
            <a:alphaModFix/>
          </a:blip>
          <a:stretch>
            <a:fillRect/>
          </a:stretch>
        </p:blipFill>
        <p:spPr>
          <a:xfrm>
            <a:off x="307250" y="4739650"/>
            <a:ext cx="406753" cy="228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26"/>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Designing a car's shape: what does the aerodynamicist need to know?</a:t>
            </a:r>
            <a:endParaRPr i="0" sz="2100" u="none" cap="none" strike="noStrike">
              <a:solidFill>
                <a:schemeClr val="dk1"/>
              </a:solidFill>
              <a:latin typeface="Ubuntu Light"/>
              <a:ea typeface="Ubuntu Light"/>
              <a:cs typeface="Ubuntu Light"/>
              <a:sym typeface="Ubuntu Light"/>
            </a:endParaRPr>
          </a:p>
        </p:txBody>
      </p:sp>
      <p:pic>
        <p:nvPicPr>
          <p:cNvPr descr="preencoded.png" id="129" name="Google Shape;129;p26"/>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pic>
        <p:nvPicPr>
          <p:cNvPr id="130" name="Google Shape;130;p26" title="drivaer1.png"/>
          <p:cNvPicPr preferRelativeResize="0"/>
          <p:nvPr/>
        </p:nvPicPr>
        <p:blipFill>
          <a:blip r:embed="rId4">
            <a:alphaModFix/>
          </a:blip>
          <a:stretch>
            <a:fillRect/>
          </a:stretch>
        </p:blipFill>
        <p:spPr>
          <a:xfrm>
            <a:off x="539700" y="1259324"/>
            <a:ext cx="3706550" cy="1661992"/>
          </a:xfrm>
          <a:prstGeom prst="rect">
            <a:avLst/>
          </a:prstGeom>
          <a:noFill/>
          <a:ln>
            <a:noFill/>
          </a:ln>
        </p:spPr>
      </p:pic>
      <p:grpSp>
        <p:nvGrpSpPr>
          <p:cNvPr id="131" name="Google Shape;131;p26"/>
          <p:cNvGrpSpPr/>
          <p:nvPr/>
        </p:nvGrpSpPr>
        <p:grpSpPr>
          <a:xfrm>
            <a:off x="4569082" y="1068351"/>
            <a:ext cx="3738869" cy="2043949"/>
            <a:chOff x="4895207" y="777301"/>
            <a:chExt cx="3738869" cy="2043949"/>
          </a:xfrm>
        </p:grpSpPr>
        <p:grpSp>
          <p:nvGrpSpPr>
            <p:cNvPr id="132" name="Google Shape;132;p26"/>
            <p:cNvGrpSpPr/>
            <p:nvPr/>
          </p:nvGrpSpPr>
          <p:grpSpPr>
            <a:xfrm>
              <a:off x="4895207" y="846342"/>
              <a:ext cx="3738869" cy="1768164"/>
              <a:chOff x="3047925" y="82892"/>
              <a:chExt cx="4411124" cy="2086083"/>
            </a:xfrm>
          </p:grpSpPr>
          <p:pic>
            <p:nvPicPr>
              <p:cNvPr descr="/home/claude/img/drivaer_p.png" id="133" name="Google Shape;133;p26"/>
              <p:cNvPicPr preferRelativeResize="0"/>
              <p:nvPr/>
            </p:nvPicPr>
            <p:blipFill rotWithShape="1">
              <a:blip r:embed="rId5">
                <a:alphaModFix/>
              </a:blip>
              <a:srcRect b="0" l="-9300" r="9300" t="0"/>
              <a:stretch/>
            </p:blipFill>
            <p:spPr>
              <a:xfrm>
                <a:off x="4403323" y="82892"/>
                <a:ext cx="1449974" cy="783600"/>
              </a:xfrm>
              <a:prstGeom prst="rect">
                <a:avLst/>
              </a:prstGeom>
              <a:noFill/>
              <a:ln>
                <a:noFill/>
              </a:ln>
            </p:spPr>
          </p:pic>
          <p:pic>
            <p:nvPicPr>
              <p:cNvPr descr="/home/claude/img/drivaer_ux.png" id="134" name="Google Shape;134;p26"/>
              <p:cNvPicPr preferRelativeResize="0"/>
              <p:nvPr/>
            </p:nvPicPr>
            <p:blipFill rotWithShape="1">
              <a:blip r:embed="rId6">
                <a:alphaModFix/>
              </a:blip>
              <a:srcRect b="0" l="11847" r="17211" t="0"/>
              <a:stretch/>
            </p:blipFill>
            <p:spPr>
              <a:xfrm>
                <a:off x="3047925" y="1007700"/>
                <a:ext cx="4411124" cy="1161275"/>
              </a:xfrm>
              <a:prstGeom prst="rect">
                <a:avLst/>
              </a:prstGeom>
              <a:noFill/>
              <a:ln>
                <a:noFill/>
              </a:ln>
            </p:spPr>
          </p:pic>
        </p:grpSp>
        <p:sp>
          <p:nvSpPr>
            <p:cNvPr id="135" name="Google Shape;135;p26"/>
            <p:cNvSpPr txBox="1"/>
            <p:nvPr/>
          </p:nvSpPr>
          <p:spPr>
            <a:xfrm>
              <a:off x="5757999" y="2683550"/>
              <a:ext cx="2013300" cy="13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E"/>
                </a:buClr>
                <a:buSzPts val="800"/>
                <a:buFont typeface="Lato"/>
                <a:buNone/>
              </a:pPr>
              <a:r>
                <a:rPr b="0" i="1" lang="en" sz="900" u="none" cap="none" strike="noStrike">
                  <a:solidFill>
                    <a:srgbClr val="7A7F8E"/>
                  </a:solidFill>
                  <a:latin typeface="Lato"/>
                  <a:ea typeface="Lato"/>
                  <a:cs typeface="Lato"/>
                  <a:sym typeface="Lato"/>
                </a:rPr>
                <a:t>streamwise velocity on the symmetry plane</a:t>
              </a:r>
              <a:endParaRPr b="0" i="0" sz="900" u="none" cap="none" strike="noStrike">
                <a:solidFill>
                  <a:srgbClr val="000000"/>
                </a:solidFill>
                <a:latin typeface="Calibri"/>
                <a:ea typeface="Calibri"/>
                <a:cs typeface="Calibri"/>
                <a:sym typeface="Calibri"/>
              </a:endParaRPr>
            </a:p>
          </p:txBody>
        </p:sp>
        <p:sp>
          <p:nvSpPr>
            <p:cNvPr id="136" name="Google Shape;136;p26"/>
            <p:cNvSpPr txBox="1"/>
            <p:nvPr/>
          </p:nvSpPr>
          <p:spPr>
            <a:xfrm>
              <a:off x="6631020" y="777301"/>
              <a:ext cx="764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E"/>
                </a:buClr>
                <a:buSzPts val="800"/>
                <a:buFont typeface="Lato"/>
                <a:buNone/>
              </a:pPr>
              <a:r>
                <a:rPr i="1" lang="en" sz="900">
                  <a:solidFill>
                    <a:srgbClr val="7A7F8E"/>
                  </a:solidFill>
                  <a:latin typeface="Lato"/>
                  <a:ea typeface="Lato"/>
                  <a:cs typeface="Lato"/>
                  <a:sym typeface="Lato"/>
                </a:rPr>
                <a:t>s</a:t>
              </a:r>
              <a:r>
                <a:rPr b="0" i="1" lang="en" sz="900" u="none" cap="none" strike="noStrike">
                  <a:solidFill>
                    <a:srgbClr val="7A7F8E"/>
                  </a:solidFill>
                  <a:latin typeface="Lato"/>
                  <a:ea typeface="Lato"/>
                  <a:cs typeface="Lato"/>
                  <a:sym typeface="Lato"/>
                </a:rPr>
                <a:t>urface pressure</a:t>
              </a:r>
              <a:endParaRPr b="0" i="0" sz="900" u="none" cap="none" strike="noStrike">
                <a:solidFill>
                  <a:srgbClr val="000000"/>
                </a:solidFill>
                <a:latin typeface="Calibri"/>
                <a:ea typeface="Calibri"/>
                <a:cs typeface="Calibri"/>
                <a:sym typeface="Calibri"/>
              </a:endParaRPr>
            </a:p>
          </p:txBody>
        </p:sp>
      </p:grpSp>
      <p:pic>
        <p:nvPicPr>
          <p:cNvPr id="137" name="Google Shape;137;p26" title="D3A_logo_SORT.png"/>
          <p:cNvPicPr preferRelativeResize="0"/>
          <p:nvPr/>
        </p:nvPicPr>
        <p:blipFill>
          <a:blip r:embed="rId7">
            <a:alphaModFix/>
          </a:blip>
          <a:stretch>
            <a:fillRect/>
          </a:stretch>
        </p:blipFill>
        <p:spPr>
          <a:xfrm>
            <a:off x="307250" y="4739650"/>
            <a:ext cx="406753" cy="228600"/>
          </a:xfrm>
          <a:prstGeom prst="rect">
            <a:avLst/>
          </a:prstGeom>
          <a:noFill/>
          <a:ln>
            <a:noFill/>
          </a:ln>
        </p:spPr>
      </p:pic>
      <p:sp>
        <p:nvSpPr>
          <p:cNvPr id="138" name="Google Shape;138;p26"/>
          <p:cNvSpPr/>
          <p:nvPr/>
        </p:nvSpPr>
        <p:spPr>
          <a:xfrm>
            <a:off x="451525" y="3251300"/>
            <a:ext cx="8412600" cy="1191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6B7280"/>
              </a:buClr>
              <a:buSzPts val="1100"/>
              <a:buFont typeface="Lato"/>
              <a:buNone/>
            </a:pPr>
            <a:r>
              <a:rPr lang="en" sz="1200">
                <a:solidFill>
                  <a:srgbClr val="262626"/>
                </a:solidFill>
                <a:latin typeface="Lato"/>
                <a:ea typeface="Lato"/>
                <a:cs typeface="Lato"/>
                <a:sym typeface="Lato"/>
              </a:rPr>
              <a:t>How much drag?</a:t>
            </a:r>
            <a:r>
              <a:rPr lang="en" sz="1200">
                <a:solidFill>
                  <a:srgbClr val="262626"/>
                </a:solidFill>
                <a:latin typeface="Lato Light"/>
                <a:ea typeface="Lato Light"/>
                <a:cs typeface="Lato Light"/>
                <a:sym typeface="Lato Light"/>
              </a:rPr>
              <a:t> Drag coefficient C_d → range and energy use</a:t>
            </a:r>
            <a:br>
              <a:rPr lang="en" sz="1200">
                <a:solidFill>
                  <a:srgbClr val="262626"/>
                </a:solidFill>
                <a:latin typeface="Lato Light"/>
                <a:ea typeface="Lato Light"/>
                <a:cs typeface="Lato Light"/>
                <a:sym typeface="Lato Light"/>
              </a:rPr>
            </a:br>
            <a:r>
              <a:rPr lang="en" sz="1200">
                <a:solidFill>
                  <a:srgbClr val="262626"/>
                </a:solidFill>
                <a:latin typeface="Lato"/>
                <a:ea typeface="Lato"/>
                <a:cs typeface="Lato"/>
                <a:sym typeface="Lato"/>
              </a:rPr>
              <a:t>Is the lift balanced?</a:t>
            </a:r>
            <a:r>
              <a:rPr lang="en" sz="1200">
                <a:solidFill>
                  <a:srgbClr val="262626"/>
                </a:solidFill>
                <a:latin typeface="Lato Light"/>
                <a:ea typeface="Lato Light"/>
                <a:cs typeface="Lato Light"/>
                <a:sym typeface="Lato Light"/>
              </a:rPr>
              <a:t> Lift C_l and pitching moment C_m → front/rear axle load, high-speed stability</a:t>
            </a:r>
            <a:br>
              <a:rPr lang="en" sz="1200">
                <a:solidFill>
                  <a:srgbClr val="262626"/>
                </a:solidFill>
                <a:latin typeface="Lato Light"/>
                <a:ea typeface="Lato Light"/>
                <a:cs typeface="Lato Light"/>
                <a:sym typeface="Lato Light"/>
              </a:rPr>
            </a:br>
            <a:r>
              <a:rPr lang="en" sz="1200">
                <a:solidFill>
                  <a:srgbClr val="262626"/>
                </a:solidFill>
                <a:latin typeface="Lato"/>
                <a:ea typeface="Lato"/>
                <a:cs typeface="Lato"/>
                <a:sym typeface="Lato"/>
              </a:rPr>
              <a:t>Where do the forces come from?</a:t>
            </a:r>
            <a:r>
              <a:rPr lang="en" sz="1200">
                <a:solidFill>
                  <a:srgbClr val="262626"/>
                </a:solidFill>
                <a:latin typeface="Lato Light"/>
                <a:ea typeface="Lato Light"/>
                <a:cs typeface="Lato Light"/>
                <a:sym typeface="Lato Light"/>
              </a:rPr>
              <a:t> Surface pressure C_p and the flow around the car → where the flow separates, and where to change the shape</a:t>
            </a:r>
            <a:endParaRPr sz="1200">
              <a:solidFill>
                <a:srgbClr val="262626"/>
              </a:solidFill>
              <a:latin typeface="Lato Light"/>
              <a:ea typeface="Lato Light"/>
              <a:cs typeface="Lato Light"/>
              <a:sym typeface="La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7"/>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One CFD run takes hours, and a design loop needs 1000s of them.</a:t>
            </a:r>
            <a:endParaRPr i="0" sz="2100" u="none" cap="none" strike="noStrike">
              <a:solidFill>
                <a:schemeClr val="dk1"/>
              </a:solidFill>
              <a:latin typeface="Ubuntu Light"/>
              <a:ea typeface="Ubuntu Light"/>
              <a:cs typeface="Ubuntu Light"/>
              <a:sym typeface="Ubuntu Light"/>
            </a:endParaRPr>
          </a:p>
        </p:txBody>
      </p:sp>
      <p:pic>
        <p:nvPicPr>
          <p:cNvPr descr="preencoded.png" id="145" name="Google Shape;145;p27"/>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grpSp>
        <p:nvGrpSpPr>
          <p:cNvPr id="146" name="Google Shape;146;p27"/>
          <p:cNvGrpSpPr/>
          <p:nvPr/>
        </p:nvGrpSpPr>
        <p:grpSpPr>
          <a:xfrm>
            <a:off x="1615683" y="1260309"/>
            <a:ext cx="952069" cy="1193782"/>
            <a:chOff x="1243584" y="1700772"/>
            <a:chExt cx="1188600" cy="1490364"/>
          </a:xfrm>
        </p:grpSpPr>
        <p:sp>
          <p:nvSpPr>
            <p:cNvPr id="147" name="Google Shape;147;p27"/>
            <p:cNvSpPr/>
            <p:nvPr/>
          </p:nvSpPr>
          <p:spPr>
            <a:xfrm>
              <a:off x="1578796"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48" name="Google Shape;148;p27"/>
            <p:cNvSpPr/>
            <p:nvPr/>
          </p:nvSpPr>
          <p:spPr>
            <a:xfrm>
              <a:off x="1560501" y="170077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41"/>
                <a:buFont typeface="Ubuntu"/>
                <a:buNone/>
              </a:pPr>
              <a:r>
                <a:t/>
              </a:r>
              <a:endParaRPr b="0" i="0" sz="1041" u="none" cap="none" strike="noStrike">
                <a:solidFill>
                  <a:schemeClr val="lt1"/>
                </a:solidFill>
                <a:latin typeface="Calibri"/>
                <a:ea typeface="Calibri"/>
                <a:cs typeface="Calibri"/>
                <a:sym typeface="Calibri"/>
              </a:endParaRPr>
            </a:p>
          </p:txBody>
        </p:sp>
        <p:sp>
          <p:nvSpPr>
            <p:cNvPr id="149" name="Google Shape;149;p27"/>
            <p:cNvSpPr/>
            <p:nvPr/>
          </p:nvSpPr>
          <p:spPr>
            <a:xfrm>
              <a:off x="1243584"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1"/>
                <a:buFont typeface="Ubuntu"/>
                <a:buNone/>
              </a:pPr>
              <a:r>
                <a:rPr i="0" lang="en" sz="801" u="none" cap="none" strike="noStrike">
                  <a:solidFill>
                    <a:srgbClr val="0C0074"/>
                  </a:solidFill>
                  <a:latin typeface="Lato"/>
                  <a:ea typeface="Lato"/>
                  <a:cs typeface="Lato"/>
                  <a:sym typeface="Lato"/>
                </a:rPr>
                <a:t>Setup</a:t>
              </a:r>
              <a:endParaRPr i="0" sz="801" u="none" cap="none" strike="noStrike">
                <a:solidFill>
                  <a:srgbClr val="0C0074"/>
                </a:solidFill>
                <a:latin typeface="Lato"/>
                <a:ea typeface="Lato"/>
                <a:cs typeface="Lato"/>
                <a:sym typeface="Lato"/>
              </a:endParaRPr>
            </a:p>
          </p:txBody>
        </p:sp>
        <p:sp>
          <p:nvSpPr>
            <p:cNvPr id="150" name="Google Shape;150;p27"/>
            <p:cNvSpPr/>
            <p:nvPr/>
          </p:nvSpPr>
          <p:spPr>
            <a:xfrm>
              <a:off x="1243584"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Geometry,</a:t>
              </a:r>
              <a:endParaRPr i="0" sz="721"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M</a:t>
              </a:r>
              <a:r>
                <a:rPr i="0" lang="en" sz="721" u="none" cap="none" strike="noStrike">
                  <a:solidFill>
                    <a:schemeClr val="dk1"/>
                  </a:solidFill>
                  <a:latin typeface="Lato"/>
                  <a:ea typeface="Lato"/>
                  <a:cs typeface="Lato"/>
                  <a:sym typeface="Lato"/>
                </a:rPr>
                <a:t>esh, </a:t>
              </a:r>
              <a:endParaRPr i="0" sz="721"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BCs</a:t>
              </a:r>
              <a:endParaRPr i="0" sz="721" u="none" cap="none" strike="noStrike">
                <a:solidFill>
                  <a:schemeClr val="dk1"/>
                </a:solidFill>
                <a:latin typeface="Lato"/>
                <a:ea typeface="Lato"/>
                <a:cs typeface="Lato"/>
                <a:sym typeface="Lato"/>
              </a:endParaRPr>
            </a:p>
          </p:txBody>
        </p:sp>
      </p:grpSp>
      <p:grpSp>
        <p:nvGrpSpPr>
          <p:cNvPr id="151" name="Google Shape;151;p27"/>
          <p:cNvGrpSpPr/>
          <p:nvPr/>
        </p:nvGrpSpPr>
        <p:grpSpPr>
          <a:xfrm>
            <a:off x="2326144" y="1262482"/>
            <a:ext cx="1201096" cy="1188255"/>
            <a:chOff x="2130552" y="1707672"/>
            <a:chExt cx="1499496" cy="1483464"/>
          </a:xfrm>
        </p:grpSpPr>
        <p:cxnSp>
          <p:nvCxnSpPr>
            <p:cNvPr id="152" name="Google Shape;152;p27"/>
            <p:cNvCxnSpPr/>
            <p:nvPr/>
          </p:nvCxnSpPr>
          <p:spPr>
            <a:xfrm>
              <a:off x="2130552" y="2011680"/>
              <a:ext cx="612600" cy="0"/>
            </a:xfrm>
            <a:prstGeom prst="straightConnector1">
              <a:avLst/>
            </a:prstGeom>
            <a:noFill/>
            <a:ln cap="flat" cmpd="sng" w="10175">
              <a:solidFill>
                <a:srgbClr val="E2E4ED"/>
              </a:solidFill>
              <a:prstDash val="solid"/>
              <a:round/>
              <a:headEnd len="sm" w="sm" type="none"/>
              <a:tailEnd len="sm" w="sm" type="none"/>
            </a:ln>
          </p:spPr>
        </p:cxnSp>
        <p:sp>
          <p:nvSpPr>
            <p:cNvPr id="153" name="Google Shape;153;p27"/>
            <p:cNvSpPr/>
            <p:nvPr/>
          </p:nvSpPr>
          <p:spPr>
            <a:xfrm>
              <a:off x="2773617"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54" name="Google Shape;154;p27"/>
            <p:cNvSpPr/>
            <p:nvPr/>
          </p:nvSpPr>
          <p:spPr>
            <a:xfrm>
              <a:off x="2769830" y="170767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41"/>
                <a:buFont typeface="Ubuntu"/>
                <a:buNone/>
              </a:pPr>
              <a:r>
                <a:t/>
              </a:r>
              <a:endParaRPr b="0" i="0" sz="1041" u="none" cap="none" strike="noStrike">
                <a:solidFill>
                  <a:schemeClr val="dk1"/>
                </a:solidFill>
                <a:latin typeface="Calibri"/>
                <a:ea typeface="Calibri"/>
                <a:cs typeface="Calibri"/>
                <a:sym typeface="Calibri"/>
              </a:endParaRPr>
            </a:p>
          </p:txBody>
        </p:sp>
        <p:sp>
          <p:nvSpPr>
            <p:cNvPr id="155" name="Google Shape;155;p27"/>
            <p:cNvSpPr/>
            <p:nvPr/>
          </p:nvSpPr>
          <p:spPr>
            <a:xfrm>
              <a:off x="2441448"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20FF"/>
                </a:buClr>
                <a:buSzPts val="801"/>
                <a:buFont typeface="Ubuntu"/>
                <a:buNone/>
              </a:pPr>
              <a:r>
                <a:rPr i="0" lang="en" sz="801" u="none" cap="none" strike="noStrike">
                  <a:solidFill>
                    <a:srgbClr val="0C0074"/>
                  </a:solidFill>
                  <a:latin typeface="Lato"/>
                  <a:ea typeface="Lato"/>
                  <a:cs typeface="Lato"/>
                  <a:sym typeface="Lato"/>
                </a:rPr>
                <a:t>Simulat</a:t>
              </a:r>
              <a:r>
                <a:rPr lang="en" sz="801">
                  <a:solidFill>
                    <a:srgbClr val="0C0074"/>
                  </a:solidFill>
                  <a:latin typeface="Lato"/>
                  <a:ea typeface="Lato"/>
                  <a:cs typeface="Lato"/>
                  <a:sym typeface="Lato"/>
                </a:rPr>
                <a:t>ion</a:t>
              </a:r>
              <a:endParaRPr i="0" sz="801" u="none" cap="none" strike="noStrike">
                <a:solidFill>
                  <a:srgbClr val="0C0074"/>
                </a:solidFill>
                <a:latin typeface="Lato"/>
                <a:ea typeface="Lato"/>
                <a:cs typeface="Lato"/>
                <a:sym typeface="Lato"/>
              </a:endParaRPr>
            </a:p>
          </p:txBody>
        </p:sp>
        <p:sp>
          <p:nvSpPr>
            <p:cNvPr id="156" name="Google Shape;156;p27"/>
            <p:cNvSpPr/>
            <p:nvPr/>
          </p:nvSpPr>
          <p:spPr>
            <a:xfrm>
              <a:off x="2441448"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Multi-physics</a:t>
              </a:r>
              <a:endParaRPr i="0" sz="721"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solvers</a:t>
              </a:r>
              <a:endParaRPr i="0" sz="721" u="none" cap="none" strike="noStrike">
                <a:solidFill>
                  <a:schemeClr val="dk1"/>
                </a:solidFill>
                <a:latin typeface="Lato"/>
                <a:ea typeface="Lato"/>
                <a:cs typeface="Lato"/>
                <a:sym typeface="Lato"/>
              </a:endParaRPr>
            </a:p>
          </p:txBody>
        </p:sp>
      </p:grpSp>
      <p:grpSp>
        <p:nvGrpSpPr>
          <p:cNvPr id="157" name="Google Shape;157;p27"/>
          <p:cNvGrpSpPr/>
          <p:nvPr/>
        </p:nvGrpSpPr>
        <p:grpSpPr>
          <a:xfrm>
            <a:off x="4239454" y="1256976"/>
            <a:ext cx="1201096" cy="1187061"/>
            <a:chOff x="3328416" y="1709162"/>
            <a:chExt cx="1499496" cy="1481974"/>
          </a:xfrm>
        </p:grpSpPr>
        <p:cxnSp>
          <p:nvCxnSpPr>
            <p:cNvPr id="158" name="Google Shape;158;p27"/>
            <p:cNvCxnSpPr/>
            <p:nvPr/>
          </p:nvCxnSpPr>
          <p:spPr>
            <a:xfrm>
              <a:off x="3328416" y="2011680"/>
              <a:ext cx="612600" cy="0"/>
            </a:xfrm>
            <a:prstGeom prst="straightConnector1">
              <a:avLst/>
            </a:prstGeom>
            <a:noFill/>
            <a:ln cap="flat" cmpd="sng" w="10175">
              <a:solidFill>
                <a:srgbClr val="E2E4ED"/>
              </a:solidFill>
              <a:prstDash val="solid"/>
              <a:round/>
              <a:headEnd len="sm" w="sm" type="none"/>
              <a:tailEnd len="sm" w="sm" type="none"/>
            </a:ln>
          </p:spPr>
        </p:cxnSp>
        <p:sp>
          <p:nvSpPr>
            <p:cNvPr id="159" name="Google Shape;159;p27"/>
            <p:cNvSpPr/>
            <p:nvPr/>
          </p:nvSpPr>
          <p:spPr>
            <a:xfrm>
              <a:off x="3968438"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60" name="Google Shape;160;p27"/>
            <p:cNvSpPr/>
            <p:nvPr/>
          </p:nvSpPr>
          <p:spPr>
            <a:xfrm>
              <a:off x="3953639" y="170916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41"/>
                <a:buFont typeface="Ubuntu"/>
                <a:buNone/>
              </a:pPr>
              <a:r>
                <a:t/>
              </a:r>
              <a:endParaRPr b="0" i="0" sz="1041" u="none" cap="none" strike="noStrike">
                <a:solidFill>
                  <a:schemeClr val="dk1"/>
                </a:solidFill>
                <a:latin typeface="Calibri"/>
                <a:ea typeface="Calibri"/>
                <a:cs typeface="Calibri"/>
                <a:sym typeface="Calibri"/>
              </a:endParaRPr>
            </a:p>
          </p:txBody>
        </p:sp>
        <p:sp>
          <p:nvSpPr>
            <p:cNvPr id="161" name="Google Shape;161;p27"/>
            <p:cNvSpPr/>
            <p:nvPr/>
          </p:nvSpPr>
          <p:spPr>
            <a:xfrm>
              <a:off x="3639312"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A1E81"/>
                </a:buClr>
                <a:buSzPts val="801"/>
                <a:buFont typeface="Ubuntu"/>
                <a:buNone/>
              </a:pPr>
              <a:r>
                <a:rPr i="0" lang="en" sz="801" u="none" cap="none" strike="noStrike">
                  <a:solidFill>
                    <a:srgbClr val="0C0074"/>
                  </a:solidFill>
                  <a:latin typeface="Lato"/>
                  <a:ea typeface="Lato"/>
                  <a:cs typeface="Lato"/>
                  <a:sym typeface="Lato"/>
                </a:rPr>
                <a:t>Data Generation</a:t>
              </a:r>
              <a:endParaRPr i="0" sz="801" u="none" cap="none" strike="noStrike">
                <a:solidFill>
                  <a:srgbClr val="0C0074"/>
                </a:solidFill>
                <a:latin typeface="Lato"/>
                <a:ea typeface="Lato"/>
                <a:cs typeface="Lato"/>
                <a:sym typeface="Lato"/>
              </a:endParaRPr>
            </a:p>
          </p:txBody>
        </p:sp>
        <p:sp>
          <p:nvSpPr>
            <p:cNvPr id="162" name="Google Shape;162;p27"/>
            <p:cNvSpPr/>
            <p:nvPr/>
          </p:nvSpPr>
          <p:spPr>
            <a:xfrm>
              <a:off x="3639312"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DOE</a:t>
              </a:r>
              <a:r>
                <a:rPr lang="en" sz="721">
                  <a:solidFill>
                    <a:schemeClr val="dk1"/>
                  </a:solidFill>
                  <a:latin typeface="Lato"/>
                  <a:ea typeface="Lato"/>
                  <a:cs typeface="Lato"/>
                  <a:sym typeface="Lato"/>
                </a:rPr>
                <a:t>, </a:t>
              </a:r>
              <a:endParaRPr sz="721">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P</a:t>
              </a:r>
              <a:r>
                <a:rPr i="0" lang="en" sz="721" u="none" cap="none" strike="noStrike">
                  <a:solidFill>
                    <a:schemeClr val="dk1"/>
                  </a:solidFill>
                  <a:latin typeface="Lato"/>
                  <a:ea typeface="Lato"/>
                  <a:cs typeface="Lato"/>
                  <a:sym typeface="Lato"/>
                </a:rPr>
                <a:t>arameter sweeps</a:t>
              </a:r>
              <a:endParaRPr i="0" sz="721" u="none" cap="none" strike="noStrike">
                <a:solidFill>
                  <a:schemeClr val="dk1"/>
                </a:solidFill>
                <a:latin typeface="Lato"/>
                <a:ea typeface="Lato"/>
                <a:cs typeface="Lato"/>
                <a:sym typeface="Lato"/>
              </a:endParaRPr>
            </a:p>
          </p:txBody>
        </p:sp>
      </p:grpSp>
      <p:grpSp>
        <p:nvGrpSpPr>
          <p:cNvPr id="163" name="Google Shape;163;p27"/>
          <p:cNvGrpSpPr/>
          <p:nvPr/>
        </p:nvGrpSpPr>
        <p:grpSpPr>
          <a:xfrm>
            <a:off x="5204611" y="1262482"/>
            <a:ext cx="1201096" cy="1188255"/>
            <a:chOff x="5724144" y="1707672"/>
            <a:chExt cx="1499496" cy="1483464"/>
          </a:xfrm>
        </p:grpSpPr>
        <p:cxnSp>
          <p:nvCxnSpPr>
            <p:cNvPr id="164" name="Google Shape;164;p27"/>
            <p:cNvCxnSpPr/>
            <p:nvPr/>
          </p:nvCxnSpPr>
          <p:spPr>
            <a:xfrm>
              <a:off x="5724144" y="2011680"/>
              <a:ext cx="612600" cy="0"/>
            </a:xfrm>
            <a:prstGeom prst="straightConnector1">
              <a:avLst/>
            </a:prstGeom>
            <a:noFill/>
            <a:ln cap="flat" cmpd="sng" w="10175">
              <a:solidFill>
                <a:srgbClr val="E2E4ED"/>
              </a:solidFill>
              <a:prstDash val="solid"/>
              <a:round/>
              <a:headEnd len="sm" w="sm" type="none"/>
              <a:tailEnd len="sm" w="sm" type="none"/>
            </a:ln>
          </p:spPr>
        </p:cxnSp>
        <p:sp>
          <p:nvSpPr>
            <p:cNvPr id="165" name="Google Shape;165;p27"/>
            <p:cNvSpPr/>
            <p:nvPr/>
          </p:nvSpPr>
          <p:spPr>
            <a:xfrm>
              <a:off x="6358079"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66" name="Google Shape;166;p27"/>
            <p:cNvSpPr/>
            <p:nvPr/>
          </p:nvSpPr>
          <p:spPr>
            <a:xfrm>
              <a:off x="6340562" y="170767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41"/>
                <a:buFont typeface="Ubuntu"/>
                <a:buNone/>
              </a:pPr>
              <a:r>
                <a:t/>
              </a:r>
              <a:endParaRPr b="0" i="0" sz="1041" u="none" cap="none" strike="noStrike">
                <a:solidFill>
                  <a:schemeClr val="dk1"/>
                </a:solidFill>
                <a:latin typeface="Calibri"/>
                <a:ea typeface="Calibri"/>
                <a:cs typeface="Calibri"/>
                <a:sym typeface="Calibri"/>
              </a:endParaRPr>
            </a:p>
          </p:txBody>
        </p:sp>
        <p:sp>
          <p:nvSpPr>
            <p:cNvPr id="167" name="Google Shape;167;p27"/>
            <p:cNvSpPr/>
            <p:nvPr/>
          </p:nvSpPr>
          <p:spPr>
            <a:xfrm>
              <a:off x="6035040"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057FF"/>
                </a:buClr>
                <a:buSzPts val="801"/>
                <a:buFont typeface="Ubuntu"/>
                <a:buNone/>
              </a:pPr>
              <a:r>
                <a:rPr i="0" lang="en" sz="801" u="none" cap="none" strike="noStrike">
                  <a:solidFill>
                    <a:srgbClr val="0C0074"/>
                  </a:solidFill>
                  <a:latin typeface="Lato"/>
                  <a:ea typeface="Lato"/>
                  <a:cs typeface="Lato"/>
                  <a:sym typeface="Lato"/>
                </a:rPr>
                <a:t>SciML</a:t>
              </a:r>
              <a:endParaRPr i="0" sz="801" u="none" cap="none" strike="noStrike">
                <a:solidFill>
                  <a:srgbClr val="0C0074"/>
                </a:solidFill>
                <a:latin typeface="Lato"/>
                <a:ea typeface="Lato"/>
                <a:cs typeface="Lato"/>
                <a:sym typeface="Lato"/>
              </a:endParaRPr>
            </a:p>
          </p:txBody>
        </p:sp>
        <p:sp>
          <p:nvSpPr>
            <p:cNvPr id="168" name="Google Shape;168;p27"/>
            <p:cNvSpPr/>
            <p:nvPr/>
          </p:nvSpPr>
          <p:spPr>
            <a:xfrm>
              <a:off x="6035040"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i="0" lang="en" sz="721" u="none" cap="none" strike="noStrike">
                  <a:solidFill>
                    <a:schemeClr val="dk1"/>
                  </a:solidFill>
                  <a:latin typeface="Lato"/>
                  <a:ea typeface="Lato"/>
                  <a:cs typeface="Lato"/>
                  <a:sym typeface="Lato"/>
                </a:rPr>
                <a:t>Surrogate</a:t>
              </a:r>
              <a:endParaRPr i="0" sz="721" u="none" cap="none" strike="noStrike">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modeling</a:t>
              </a:r>
              <a:endParaRPr i="0" sz="721" u="none" cap="none" strike="noStrike">
                <a:solidFill>
                  <a:schemeClr val="dk1"/>
                </a:solidFill>
                <a:latin typeface="Lato"/>
                <a:ea typeface="Lato"/>
                <a:cs typeface="Lato"/>
                <a:sym typeface="Lato"/>
              </a:endParaRPr>
            </a:p>
          </p:txBody>
        </p:sp>
      </p:grpSp>
      <p:grpSp>
        <p:nvGrpSpPr>
          <p:cNvPr id="169" name="Google Shape;169;p27"/>
          <p:cNvGrpSpPr/>
          <p:nvPr/>
        </p:nvGrpSpPr>
        <p:grpSpPr>
          <a:xfrm>
            <a:off x="6164101" y="1250274"/>
            <a:ext cx="1201103" cy="1200462"/>
            <a:chOff x="6922008" y="1692432"/>
            <a:chExt cx="1499504" cy="1498704"/>
          </a:xfrm>
        </p:grpSpPr>
        <p:cxnSp>
          <p:nvCxnSpPr>
            <p:cNvPr id="170" name="Google Shape;170;p27"/>
            <p:cNvCxnSpPr/>
            <p:nvPr/>
          </p:nvCxnSpPr>
          <p:spPr>
            <a:xfrm>
              <a:off x="6922008" y="2011680"/>
              <a:ext cx="612600" cy="0"/>
            </a:xfrm>
            <a:prstGeom prst="straightConnector1">
              <a:avLst/>
            </a:prstGeom>
            <a:noFill/>
            <a:ln cap="flat" cmpd="sng" w="10175">
              <a:solidFill>
                <a:srgbClr val="E2E4ED"/>
              </a:solidFill>
              <a:prstDash val="solid"/>
              <a:round/>
              <a:headEnd len="sm" w="sm" type="none"/>
              <a:tailEnd len="sm" w="sm" type="none"/>
            </a:ln>
          </p:spPr>
        </p:cxnSp>
        <p:sp>
          <p:nvSpPr>
            <p:cNvPr id="171" name="Google Shape;171;p27"/>
            <p:cNvSpPr/>
            <p:nvPr/>
          </p:nvSpPr>
          <p:spPr>
            <a:xfrm>
              <a:off x="7552900"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72" name="Google Shape;172;p27"/>
            <p:cNvSpPr/>
            <p:nvPr/>
          </p:nvSpPr>
          <p:spPr>
            <a:xfrm>
              <a:off x="7232904"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Gradient-based,</a:t>
              </a:r>
              <a:endParaRPr sz="721">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BO, </a:t>
              </a:r>
              <a:endParaRPr sz="721">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UQ</a:t>
              </a:r>
              <a:endParaRPr i="0" sz="721" u="none" cap="none" strike="noStrike">
                <a:solidFill>
                  <a:schemeClr val="dk1"/>
                </a:solidFill>
                <a:latin typeface="Lato"/>
                <a:ea typeface="Lato"/>
                <a:cs typeface="Lato"/>
                <a:sym typeface="Lato"/>
              </a:endParaRPr>
            </a:p>
          </p:txBody>
        </p:sp>
        <p:sp>
          <p:nvSpPr>
            <p:cNvPr id="173" name="Google Shape;173;p27"/>
            <p:cNvSpPr/>
            <p:nvPr/>
          </p:nvSpPr>
          <p:spPr>
            <a:xfrm>
              <a:off x="7538434" y="169243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41"/>
                <a:buFont typeface="Ubuntu"/>
                <a:buNone/>
              </a:pPr>
              <a:r>
                <a:t/>
              </a:r>
              <a:endParaRPr b="0" i="0" sz="1041" u="none" cap="none" strike="noStrike">
                <a:solidFill>
                  <a:schemeClr val="dk1"/>
                </a:solidFill>
                <a:latin typeface="Calibri"/>
                <a:ea typeface="Calibri"/>
                <a:cs typeface="Calibri"/>
                <a:sym typeface="Calibri"/>
              </a:endParaRPr>
            </a:p>
          </p:txBody>
        </p:sp>
        <p:sp>
          <p:nvSpPr>
            <p:cNvPr id="174" name="Google Shape;174;p27"/>
            <p:cNvSpPr/>
            <p:nvPr/>
          </p:nvSpPr>
          <p:spPr>
            <a:xfrm>
              <a:off x="7232912"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A1E81"/>
                </a:buClr>
                <a:buSzPts val="801"/>
                <a:buFont typeface="Ubuntu"/>
                <a:buNone/>
              </a:pPr>
              <a:r>
                <a:rPr lang="en" sz="801">
                  <a:solidFill>
                    <a:srgbClr val="0C0074"/>
                  </a:solidFill>
                  <a:latin typeface="Lato"/>
                  <a:ea typeface="Lato"/>
                  <a:cs typeface="Lato"/>
                  <a:sym typeface="Lato"/>
                </a:rPr>
                <a:t>Optimization</a:t>
              </a:r>
              <a:endParaRPr i="0" sz="801" u="none" cap="none" strike="noStrike">
                <a:solidFill>
                  <a:srgbClr val="0C0074"/>
                </a:solidFill>
                <a:latin typeface="Lato"/>
                <a:ea typeface="Lato"/>
                <a:cs typeface="Lato"/>
                <a:sym typeface="Lato"/>
              </a:endParaRPr>
            </a:p>
          </p:txBody>
        </p:sp>
      </p:grpSp>
      <p:sp>
        <p:nvSpPr>
          <p:cNvPr id="175" name="Google Shape;175;p27"/>
          <p:cNvSpPr/>
          <p:nvPr/>
        </p:nvSpPr>
        <p:spPr>
          <a:xfrm>
            <a:off x="4882227" y="1361128"/>
            <a:ext cx="182642" cy="250825"/>
          </a:xfrm>
          <a:custGeom>
            <a:rect b="b" l="l" r="r" t="t"/>
            <a:pathLst>
              <a:path extrusionOk="0" fill="none" h="127000" w="95250">
                <a:moveTo>
                  <a:pt x="95250" y="63500"/>
                </a:moveTo>
                <a:lnTo>
                  <a:pt x="95250" y="103505"/>
                </a:lnTo>
                <a:cubicBezTo>
                  <a:pt x="95250" y="116205"/>
                  <a:pt x="73660" y="127000"/>
                  <a:pt x="47625" y="127000"/>
                </a:cubicBezTo>
                <a:cubicBezTo>
                  <a:pt x="21590" y="127000"/>
                  <a:pt x="0" y="116205"/>
                  <a:pt x="0" y="103505"/>
                </a:cubicBezTo>
                <a:lnTo>
                  <a:pt x="0" y="63500"/>
                </a:lnTo>
                <a:moveTo>
                  <a:pt x="95250" y="63500"/>
                </a:moveTo>
                <a:lnTo>
                  <a:pt x="95250" y="24130"/>
                </a:lnTo>
                <a:moveTo>
                  <a:pt x="95250" y="63500"/>
                </a:moveTo>
                <a:cubicBezTo>
                  <a:pt x="95250" y="76835"/>
                  <a:pt x="73660" y="87630"/>
                  <a:pt x="47625" y="87630"/>
                </a:cubicBezTo>
                <a:cubicBezTo>
                  <a:pt x="21590" y="87630"/>
                  <a:pt x="0" y="76835"/>
                  <a:pt x="0" y="63500"/>
                </a:cubicBezTo>
                <a:moveTo>
                  <a:pt x="95250" y="24130"/>
                </a:moveTo>
                <a:cubicBezTo>
                  <a:pt x="95250" y="10795"/>
                  <a:pt x="73660" y="0"/>
                  <a:pt x="47625" y="0"/>
                </a:cubicBezTo>
                <a:cubicBezTo>
                  <a:pt x="21590" y="0"/>
                  <a:pt x="0" y="10795"/>
                  <a:pt x="0" y="24130"/>
                </a:cubicBezTo>
                <a:moveTo>
                  <a:pt x="95250" y="24130"/>
                </a:moveTo>
                <a:cubicBezTo>
                  <a:pt x="95250" y="36830"/>
                  <a:pt x="73660" y="47625"/>
                  <a:pt x="47625" y="47625"/>
                </a:cubicBezTo>
                <a:cubicBezTo>
                  <a:pt x="21590" y="47625"/>
                  <a:pt x="0" y="36830"/>
                  <a:pt x="0" y="24130"/>
                </a:cubicBezTo>
                <a:moveTo>
                  <a:pt x="0" y="63500"/>
                </a:moveTo>
                <a:lnTo>
                  <a:pt x="0" y="24130"/>
                </a:lnTo>
              </a:path>
            </a:pathLst>
          </a:custGeom>
          <a:noFill/>
          <a:ln cap="rnd" cmpd="sng" w="22900">
            <a:solidFill>
              <a:schemeClr val="lt1"/>
            </a:solidFill>
            <a:prstDash val="solid"/>
            <a:round/>
            <a:headEnd len="sm" w="sm" type="none"/>
            <a:tailEnd len="sm" w="sm" type="none"/>
          </a:ln>
        </p:spPr>
        <p:txBody>
          <a:bodyPr anchorCtr="0" anchor="ctr" bIns="73225" lIns="73225" spcFirstLastPara="1" rIns="73225" wrap="square" tIns="73225">
            <a:noAutofit/>
          </a:bodyPr>
          <a:lstStyle/>
          <a:p>
            <a:pPr indent="0" lvl="0" marL="0" rtl="0" algn="l">
              <a:spcBef>
                <a:spcPts val="0"/>
              </a:spcBef>
              <a:spcAft>
                <a:spcPts val="0"/>
              </a:spcAft>
              <a:buNone/>
            </a:pPr>
            <a:r>
              <a:t/>
            </a:r>
            <a:endParaRPr/>
          </a:p>
        </p:txBody>
      </p:sp>
      <p:sp>
        <p:nvSpPr>
          <p:cNvPr id="176" name="Google Shape;176;p27"/>
          <p:cNvSpPr/>
          <p:nvPr/>
        </p:nvSpPr>
        <p:spPr>
          <a:xfrm rot="-5400000">
            <a:off x="5799047" y="1367819"/>
            <a:ext cx="250825" cy="250825"/>
          </a:xfrm>
          <a:custGeom>
            <a:rect b="b" l="l" r="r" t="t"/>
            <a:pathLst>
              <a:path extrusionOk="0" h="158750" w="158750">
                <a:moveTo>
                  <a:pt x="79375" y="12065"/>
                </a:moveTo>
                <a:cubicBezTo>
                  <a:pt x="83820" y="12065"/>
                  <a:pt x="87630" y="15240"/>
                  <a:pt x="87630" y="19685"/>
                </a:cubicBezTo>
                <a:cubicBezTo>
                  <a:pt x="87630" y="24130"/>
                  <a:pt x="83820" y="27940"/>
                  <a:pt x="79375" y="27940"/>
                </a:cubicBezTo>
                <a:cubicBezTo>
                  <a:pt x="74930" y="27940"/>
                  <a:pt x="71755" y="24130"/>
                  <a:pt x="71755" y="19685"/>
                </a:cubicBezTo>
                <a:cubicBezTo>
                  <a:pt x="71755" y="15240"/>
                  <a:pt x="74930" y="12065"/>
                  <a:pt x="79375" y="12065"/>
                </a:cubicBezTo>
                <a:close/>
                <a:moveTo>
                  <a:pt x="49530" y="71755"/>
                </a:moveTo>
                <a:cubicBezTo>
                  <a:pt x="53975" y="71755"/>
                  <a:pt x="57785" y="74930"/>
                  <a:pt x="57785" y="79375"/>
                </a:cubicBezTo>
                <a:cubicBezTo>
                  <a:pt x="57785" y="83820"/>
                  <a:pt x="53975" y="87630"/>
                  <a:pt x="49530" y="87630"/>
                </a:cubicBezTo>
                <a:cubicBezTo>
                  <a:pt x="45085" y="87630"/>
                  <a:pt x="41910" y="83820"/>
                  <a:pt x="41910" y="79375"/>
                </a:cubicBezTo>
                <a:cubicBezTo>
                  <a:pt x="41910" y="74930"/>
                  <a:pt x="45085" y="71755"/>
                  <a:pt x="49530" y="71755"/>
                </a:cubicBezTo>
                <a:close/>
                <a:moveTo>
                  <a:pt x="109220" y="71755"/>
                </a:moveTo>
                <a:cubicBezTo>
                  <a:pt x="113665" y="71755"/>
                  <a:pt x="116840" y="74930"/>
                  <a:pt x="116840" y="79375"/>
                </a:cubicBezTo>
                <a:cubicBezTo>
                  <a:pt x="116840" y="83820"/>
                  <a:pt x="113665" y="87630"/>
                  <a:pt x="109220" y="87630"/>
                </a:cubicBezTo>
                <a:cubicBezTo>
                  <a:pt x="104775" y="87630"/>
                  <a:pt x="100965" y="83820"/>
                  <a:pt x="100965" y="79375"/>
                </a:cubicBezTo>
                <a:cubicBezTo>
                  <a:pt x="100965" y="74930"/>
                  <a:pt x="104775" y="71755"/>
                  <a:pt x="109220" y="71755"/>
                </a:cubicBezTo>
                <a:close/>
                <a:moveTo>
                  <a:pt x="19685" y="130810"/>
                </a:moveTo>
                <a:cubicBezTo>
                  <a:pt x="24130" y="130810"/>
                  <a:pt x="27940" y="134620"/>
                  <a:pt x="27940" y="139065"/>
                </a:cubicBezTo>
                <a:cubicBezTo>
                  <a:pt x="27940" y="143510"/>
                  <a:pt x="24130" y="146685"/>
                  <a:pt x="19685" y="146685"/>
                </a:cubicBezTo>
                <a:cubicBezTo>
                  <a:pt x="15240" y="146685"/>
                  <a:pt x="12065" y="143510"/>
                  <a:pt x="12065" y="139065"/>
                </a:cubicBezTo>
                <a:cubicBezTo>
                  <a:pt x="12065" y="134620"/>
                  <a:pt x="15240" y="130810"/>
                  <a:pt x="19685" y="130810"/>
                </a:cubicBezTo>
                <a:close/>
                <a:moveTo>
                  <a:pt x="79375" y="130810"/>
                </a:moveTo>
                <a:cubicBezTo>
                  <a:pt x="83820" y="130810"/>
                  <a:pt x="87630" y="134620"/>
                  <a:pt x="87630" y="139065"/>
                </a:cubicBezTo>
                <a:cubicBezTo>
                  <a:pt x="87630" y="143510"/>
                  <a:pt x="83820" y="146685"/>
                  <a:pt x="79375" y="146685"/>
                </a:cubicBezTo>
                <a:cubicBezTo>
                  <a:pt x="74930" y="146685"/>
                  <a:pt x="71755" y="143510"/>
                  <a:pt x="71755" y="139065"/>
                </a:cubicBezTo>
                <a:cubicBezTo>
                  <a:pt x="71755" y="134620"/>
                  <a:pt x="74930" y="130810"/>
                  <a:pt x="79375" y="130810"/>
                </a:cubicBezTo>
                <a:close/>
                <a:moveTo>
                  <a:pt x="139065" y="130810"/>
                </a:moveTo>
                <a:cubicBezTo>
                  <a:pt x="143510" y="130810"/>
                  <a:pt x="146685" y="134620"/>
                  <a:pt x="146685" y="139065"/>
                </a:cubicBezTo>
                <a:cubicBezTo>
                  <a:pt x="146685" y="143510"/>
                  <a:pt x="143510" y="146685"/>
                  <a:pt x="139065" y="146685"/>
                </a:cubicBezTo>
                <a:cubicBezTo>
                  <a:pt x="134620" y="146685"/>
                  <a:pt x="130810" y="143510"/>
                  <a:pt x="130810" y="139065"/>
                </a:cubicBezTo>
                <a:cubicBezTo>
                  <a:pt x="130810" y="134620"/>
                  <a:pt x="134620" y="130810"/>
                  <a:pt x="139065" y="130810"/>
                </a:cubicBezTo>
                <a:close/>
                <a:moveTo>
                  <a:pt x="79375" y="0"/>
                </a:moveTo>
                <a:cubicBezTo>
                  <a:pt x="68580" y="0"/>
                  <a:pt x="59690" y="8890"/>
                  <a:pt x="59690" y="19685"/>
                </a:cubicBezTo>
                <a:cubicBezTo>
                  <a:pt x="59690" y="25400"/>
                  <a:pt x="61595" y="30480"/>
                  <a:pt x="65405" y="34290"/>
                </a:cubicBezTo>
                <a:lnTo>
                  <a:pt x="52705" y="59690"/>
                </a:lnTo>
                <a:lnTo>
                  <a:pt x="49530" y="59690"/>
                </a:lnTo>
                <a:cubicBezTo>
                  <a:pt x="38735" y="59690"/>
                  <a:pt x="29845" y="68580"/>
                  <a:pt x="29845" y="79375"/>
                </a:cubicBezTo>
                <a:cubicBezTo>
                  <a:pt x="29845" y="85090"/>
                  <a:pt x="32385" y="90170"/>
                  <a:pt x="35560" y="93345"/>
                </a:cubicBezTo>
                <a:lnTo>
                  <a:pt x="22860" y="119380"/>
                </a:lnTo>
                <a:lnTo>
                  <a:pt x="19685" y="119380"/>
                </a:lnTo>
                <a:cubicBezTo>
                  <a:pt x="8890" y="119380"/>
                  <a:pt x="0" y="128270"/>
                  <a:pt x="0" y="139065"/>
                </a:cubicBezTo>
                <a:cubicBezTo>
                  <a:pt x="0" y="149860"/>
                  <a:pt x="8890" y="158750"/>
                  <a:pt x="19685" y="158750"/>
                </a:cubicBezTo>
                <a:cubicBezTo>
                  <a:pt x="31115" y="158750"/>
                  <a:pt x="40005" y="149860"/>
                  <a:pt x="40005" y="139065"/>
                </a:cubicBezTo>
                <a:cubicBezTo>
                  <a:pt x="40005" y="133350"/>
                  <a:pt x="37465" y="128270"/>
                  <a:pt x="33655" y="124460"/>
                </a:cubicBezTo>
                <a:lnTo>
                  <a:pt x="46355" y="99060"/>
                </a:lnTo>
                <a:lnTo>
                  <a:pt x="52705" y="99060"/>
                </a:lnTo>
                <a:lnTo>
                  <a:pt x="65405" y="124460"/>
                </a:lnTo>
                <a:cubicBezTo>
                  <a:pt x="61595" y="128270"/>
                  <a:pt x="59690" y="133350"/>
                  <a:pt x="59690" y="139065"/>
                </a:cubicBezTo>
                <a:cubicBezTo>
                  <a:pt x="59690" y="149860"/>
                  <a:pt x="68580" y="158750"/>
                  <a:pt x="79375" y="158750"/>
                </a:cubicBezTo>
                <a:cubicBezTo>
                  <a:pt x="90170" y="158750"/>
                  <a:pt x="99060" y="149860"/>
                  <a:pt x="99060" y="139065"/>
                </a:cubicBezTo>
                <a:cubicBezTo>
                  <a:pt x="99060" y="128270"/>
                  <a:pt x="90170" y="119380"/>
                  <a:pt x="79375" y="119380"/>
                </a:cubicBezTo>
                <a:lnTo>
                  <a:pt x="76200" y="119380"/>
                </a:lnTo>
                <a:lnTo>
                  <a:pt x="63500" y="93980"/>
                </a:lnTo>
                <a:cubicBezTo>
                  <a:pt x="67310" y="90170"/>
                  <a:pt x="69215" y="85090"/>
                  <a:pt x="69215" y="79375"/>
                </a:cubicBezTo>
                <a:cubicBezTo>
                  <a:pt x="69215" y="73660"/>
                  <a:pt x="67310" y="68580"/>
                  <a:pt x="63500" y="65405"/>
                </a:cubicBezTo>
                <a:lnTo>
                  <a:pt x="76200" y="39370"/>
                </a:lnTo>
                <a:cubicBezTo>
                  <a:pt x="77470" y="40005"/>
                  <a:pt x="78105" y="40005"/>
                  <a:pt x="79375" y="40005"/>
                </a:cubicBezTo>
                <a:cubicBezTo>
                  <a:pt x="80645" y="40005"/>
                  <a:pt x="81280" y="40005"/>
                  <a:pt x="82550" y="39370"/>
                </a:cubicBezTo>
                <a:lnTo>
                  <a:pt x="95250" y="65405"/>
                </a:lnTo>
                <a:cubicBezTo>
                  <a:pt x="91440" y="68580"/>
                  <a:pt x="89535" y="73660"/>
                  <a:pt x="89535" y="79375"/>
                </a:cubicBezTo>
                <a:cubicBezTo>
                  <a:pt x="89535" y="90170"/>
                  <a:pt x="98425" y="99060"/>
                  <a:pt x="109220" y="99060"/>
                </a:cubicBezTo>
                <a:lnTo>
                  <a:pt x="112395" y="99060"/>
                </a:lnTo>
                <a:lnTo>
                  <a:pt x="125095" y="124460"/>
                </a:lnTo>
                <a:cubicBezTo>
                  <a:pt x="121285" y="128270"/>
                  <a:pt x="119380" y="133350"/>
                  <a:pt x="119380" y="139065"/>
                </a:cubicBezTo>
                <a:cubicBezTo>
                  <a:pt x="119380" y="149860"/>
                  <a:pt x="128270" y="158750"/>
                  <a:pt x="139065" y="158750"/>
                </a:cubicBezTo>
                <a:cubicBezTo>
                  <a:pt x="149860" y="158750"/>
                  <a:pt x="158750" y="149860"/>
                  <a:pt x="158750" y="139065"/>
                </a:cubicBezTo>
                <a:cubicBezTo>
                  <a:pt x="158750" y="128270"/>
                  <a:pt x="149860" y="119380"/>
                  <a:pt x="139065" y="119380"/>
                </a:cubicBezTo>
                <a:lnTo>
                  <a:pt x="135890" y="119380"/>
                </a:lnTo>
                <a:lnTo>
                  <a:pt x="123190" y="93980"/>
                </a:lnTo>
                <a:cubicBezTo>
                  <a:pt x="126365" y="90170"/>
                  <a:pt x="128905" y="85090"/>
                  <a:pt x="128905" y="79375"/>
                </a:cubicBezTo>
                <a:cubicBezTo>
                  <a:pt x="128905" y="68580"/>
                  <a:pt x="120015" y="59690"/>
                  <a:pt x="109220" y="59690"/>
                </a:cubicBezTo>
                <a:lnTo>
                  <a:pt x="106045" y="59690"/>
                </a:lnTo>
                <a:lnTo>
                  <a:pt x="93345" y="34290"/>
                </a:lnTo>
                <a:cubicBezTo>
                  <a:pt x="97155" y="30480"/>
                  <a:pt x="99060" y="25400"/>
                  <a:pt x="99060" y="19685"/>
                </a:cubicBezTo>
                <a:cubicBezTo>
                  <a:pt x="99060" y="8890"/>
                  <a:pt x="90170" y="0"/>
                  <a:pt x="79375" y="0"/>
                </a:cubicBezTo>
                <a:close/>
              </a:path>
            </a:pathLst>
          </a:custGeom>
          <a:solidFill>
            <a:schemeClr val="lt1"/>
          </a:solidFill>
          <a:ln>
            <a:noFill/>
          </a:ln>
        </p:spPr>
        <p:txBody>
          <a:bodyPr anchorCtr="0" anchor="ctr" bIns="73225" lIns="73225" spcFirstLastPara="1" rIns="73225" wrap="square" tIns="73225">
            <a:noAutofit/>
          </a:bodyPr>
          <a:lstStyle/>
          <a:p>
            <a:pPr indent="0" lvl="0" marL="0" rtl="0" algn="l">
              <a:spcBef>
                <a:spcPts val="0"/>
              </a:spcBef>
              <a:spcAft>
                <a:spcPts val="0"/>
              </a:spcAft>
              <a:buNone/>
            </a:pPr>
            <a:r>
              <a:t/>
            </a:r>
            <a:endParaRPr/>
          </a:p>
        </p:txBody>
      </p:sp>
      <p:grpSp>
        <p:nvGrpSpPr>
          <p:cNvPr id="177" name="Google Shape;177;p27"/>
          <p:cNvGrpSpPr/>
          <p:nvPr/>
        </p:nvGrpSpPr>
        <p:grpSpPr>
          <a:xfrm>
            <a:off x="3285504" y="1260695"/>
            <a:ext cx="1201096" cy="1193782"/>
            <a:chOff x="4526280" y="1700772"/>
            <a:chExt cx="1499496" cy="1490364"/>
          </a:xfrm>
        </p:grpSpPr>
        <p:cxnSp>
          <p:nvCxnSpPr>
            <p:cNvPr id="178" name="Google Shape;178;p27"/>
            <p:cNvCxnSpPr/>
            <p:nvPr/>
          </p:nvCxnSpPr>
          <p:spPr>
            <a:xfrm>
              <a:off x="4526280" y="2011680"/>
              <a:ext cx="612600" cy="0"/>
            </a:xfrm>
            <a:prstGeom prst="straightConnector1">
              <a:avLst/>
            </a:prstGeom>
            <a:noFill/>
            <a:ln cap="flat" cmpd="sng" w="10175">
              <a:solidFill>
                <a:srgbClr val="E2E4ED"/>
              </a:solidFill>
              <a:prstDash val="solid"/>
              <a:round/>
              <a:headEnd len="sm" w="sm" type="none"/>
              <a:tailEnd len="sm" w="sm" type="none"/>
            </a:ln>
          </p:spPr>
        </p:cxnSp>
        <p:sp>
          <p:nvSpPr>
            <p:cNvPr id="179" name="Google Shape;179;p27"/>
            <p:cNvSpPr/>
            <p:nvPr/>
          </p:nvSpPr>
          <p:spPr>
            <a:xfrm>
              <a:off x="5163258" y="1719063"/>
              <a:ext cx="548700" cy="548700"/>
            </a:xfrm>
            <a:prstGeom prst="rect">
              <a:avLst/>
            </a:prstGeom>
            <a:solidFill>
              <a:srgbClr val="0C0074"/>
            </a:solidFill>
            <a:ln>
              <a:noFill/>
            </a:ln>
          </p:spPr>
          <p:txBody>
            <a:bodyPr anchorCtr="0" anchor="ctr" bIns="73225" lIns="73225" spcFirstLastPara="1" rIns="73225" wrap="square" tIns="73225">
              <a:noAutofit/>
            </a:bodyPr>
            <a:lstStyle/>
            <a:p>
              <a:pPr indent="0" lvl="0" marL="0" rtl="0" algn="ctr">
                <a:spcBef>
                  <a:spcPts val="0"/>
                </a:spcBef>
                <a:spcAft>
                  <a:spcPts val="0"/>
                </a:spcAft>
                <a:buNone/>
              </a:pPr>
              <a:r>
                <a:t/>
              </a:r>
              <a:endParaRPr sz="1122"/>
            </a:p>
          </p:txBody>
        </p:sp>
        <p:sp>
          <p:nvSpPr>
            <p:cNvPr id="180" name="Google Shape;180;p27"/>
            <p:cNvSpPr/>
            <p:nvPr/>
          </p:nvSpPr>
          <p:spPr>
            <a:xfrm>
              <a:off x="5138896" y="1700772"/>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41"/>
                <a:buFont typeface="Ubuntu"/>
                <a:buNone/>
              </a:pPr>
              <a:r>
                <a:t/>
              </a:r>
              <a:endParaRPr b="0" i="0" sz="1041" u="none" cap="none" strike="noStrike">
                <a:solidFill>
                  <a:schemeClr val="lt1"/>
                </a:solidFill>
                <a:latin typeface="Calibri"/>
                <a:ea typeface="Calibri"/>
                <a:cs typeface="Calibri"/>
                <a:sym typeface="Calibri"/>
              </a:endParaRPr>
            </a:p>
          </p:txBody>
        </p:sp>
        <p:sp>
          <p:nvSpPr>
            <p:cNvPr id="181" name="Google Shape;181;p27"/>
            <p:cNvSpPr/>
            <p:nvPr/>
          </p:nvSpPr>
          <p:spPr>
            <a:xfrm>
              <a:off x="4837176" y="239572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1"/>
                <a:buFont typeface="Ubuntu"/>
                <a:buNone/>
              </a:pPr>
              <a:r>
                <a:rPr i="0" lang="en" sz="801" u="none" cap="none" strike="noStrike">
                  <a:solidFill>
                    <a:srgbClr val="0C0074"/>
                  </a:solidFill>
                  <a:latin typeface="Lato"/>
                  <a:ea typeface="Lato"/>
                  <a:cs typeface="Lato"/>
                  <a:sym typeface="Lato"/>
                </a:rPr>
                <a:t>V&amp;V</a:t>
              </a:r>
              <a:endParaRPr i="0" sz="801" u="none" cap="none" strike="noStrike">
                <a:solidFill>
                  <a:srgbClr val="0C0074"/>
                </a:solidFill>
                <a:latin typeface="Lato"/>
                <a:ea typeface="Lato"/>
                <a:cs typeface="Lato"/>
                <a:sym typeface="Lato"/>
              </a:endParaRPr>
            </a:p>
          </p:txBody>
        </p:sp>
        <p:sp>
          <p:nvSpPr>
            <p:cNvPr id="182" name="Google Shape;182;p27"/>
            <p:cNvSpPr/>
            <p:nvPr/>
          </p:nvSpPr>
          <p:spPr>
            <a:xfrm>
              <a:off x="4837176" y="2688336"/>
              <a:ext cx="1188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Post-processing, Visualization, </a:t>
              </a:r>
              <a:endParaRPr sz="721">
                <a:solidFill>
                  <a:schemeClr val="dk1"/>
                </a:solidFill>
                <a:latin typeface="Lato"/>
                <a:ea typeface="Lato"/>
                <a:cs typeface="Lato"/>
                <a:sym typeface="Lato"/>
              </a:endParaRPr>
            </a:p>
            <a:p>
              <a:pPr indent="0" lvl="0" marL="0" marR="0" rtl="0" algn="ctr">
                <a:spcBef>
                  <a:spcPts val="0"/>
                </a:spcBef>
                <a:spcAft>
                  <a:spcPts val="0"/>
                </a:spcAft>
                <a:buClr>
                  <a:srgbClr val="6B7280"/>
                </a:buClr>
                <a:buSzPts val="721"/>
                <a:buFont typeface="Lato"/>
                <a:buNone/>
              </a:pPr>
              <a:r>
                <a:rPr lang="en" sz="721">
                  <a:solidFill>
                    <a:schemeClr val="dk1"/>
                  </a:solidFill>
                  <a:latin typeface="Lato"/>
                  <a:ea typeface="Lato"/>
                  <a:cs typeface="Lato"/>
                  <a:sym typeface="Lato"/>
                </a:rPr>
                <a:t>Anomaly detection</a:t>
              </a:r>
              <a:endParaRPr i="0" sz="721" u="none" cap="none" strike="noStrike">
                <a:solidFill>
                  <a:schemeClr val="dk1"/>
                </a:solidFill>
                <a:latin typeface="Lato"/>
                <a:ea typeface="Lato"/>
                <a:cs typeface="Lato"/>
                <a:sym typeface="Lato"/>
              </a:endParaRPr>
            </a:p>
          </p:txBody>
        </p:sp>
      </p:grpSp>
      <p:grpSp>
        <p:nvGrpSpPr>
          <p:cNvPr id="183" name="Google Shape;183;p27"/>
          <p:cNvGrpSpPr/>
          <p:nvPr/>
        </p:nvGrpSpPr>
        <p:grpSpPr>
          <a:xfrm>
            <a:off x="6760606" y="1367967"/>
            <a:ext cx="265748" cy="250985"/>
            <a:chOff x="1793875" y="833425"/>
            <a:chExt cx="3571875" cy="3373450"/>
          </a:xfrm>
        </p:grpSpPr>
        <p:sp>
          <p:nvSpPr>
            <p:cNvPr id="184" name="Google Shape;184;p27"/>
            <p:cNvSpPr/>
            <p:nvPr/>
          </p:nvSpPr>
          <p:spPr>
            <a:xfrm>
              <a:off x="3175000" y="833425"/>
              <a:ext cx="793750" cy="797750"/>
            </a:xfrm>
            <a:custGeom>
              <a:rect b="b" l="l" r="r" t="t"/>
              <a:pathLst>
                <a:path extrusionOk="0" fill="none" h="31910" w="31750">
                  <a:moveTo>
                    <a:pt x="15875" y="16193"/>
                  </a:moveTo>
                  <a:close/>
                  <a:moveTo>
                    <a:pt x="0" y="16193"/>
                  </a:moveTo>
                  <a:cubicBezTo>
                    <a:pt x="0" y="37148"/>
                    <a:pt x="31750" y="37148"/>
                    <a:pt x="31750" y="16193"/>
                  </a:cubicBezTo>
                  <a:cubicBezTo>
                    <a:pt x="31750" y="-5397"/>
                    <a:pt x="0" y="-5397"/>
                    <a:pt x="0" y="16193"/>
                  </a:cubicBezTo>
                  <a:close/>
                </a:path>
              </a:pathLst>
            </a:custGeom>
            <a:noFill/>
            <a:ln cap="rnd" cmpd="sng" w="22900">
              <a:solidFill>
                <a:schemeClr val="lt1"/>
              </a:solidFill>
              <a:prstDash val="solid"/>
              <a:round/>
              <a:headEnd len="sm" w="sm" type="none"/>
              <a:tailEnd len="sm" w="sm" type="none"/>
            </a:ln>
          </p:spPr>
          <p:txBody>
            <a:bodyPr anchorCtr="0" anchor="ctr" bIns="6800" lIns="6800" spcFirstLastPara="1" rIns="6800" wrap="square" tIns="6800">
              <a:noAutofit/>
            </a:bodyPr>
            <a:lstStyle/>
            <a:p>
              <a:pPr indent="0" lvl="0" marL="0" rtl="0" algn="l">
                <a:spcBef>
                  <a:spcPts val="0"/>
                </a:spcBef>
                <a:spcAft>
                  <a:spcPts val="0"/>
                </a:spcAft>
                <a:buNone/>
              </a:pPr>
              <a:r>
                <a:t/>
              </a:r>
              <a:endParaRPr/>
            </a:p>
          </p:txBody>
        </p:sp>
        <p:sp>
          <p:nvSpPr>
            <p:cNvPr id="185" name="Google Shape;185;p27"/>
            <p:cNvSpPr/>
            <p:nvPr/>
          </p:nvSpPr>
          <p:spPr>
            <a:xfrm>
              <a:off x="1793875" y="1333500"/>
              <a:ext cx="3571875" cy="2873375"/>
            </a:xfrm>
            <a:custGeom>
              <a:rect b="b" l="l" r="r" t="t"/>
              <a:pathLst>
                <a:path extrusionOk="0" fill="none" h="114935" w="142875">
                  <a:moveTo>
                    <a:pt x="0" y="114935"/>
                  </a:moveTo>
                  <a:cubicBezTo>
                    <a:pt x="0" y="45720"/>
                    <a:pt x="31750" y="3810"/>
                    <a:pt x="55245" y="0"/>
                  </a:cubicBezTo>
                  <a:moveTo>
                    <a:pt x="86995" y="0"/>
                  </a:moveTo>
                  <a:cubicBezTo>
                    <a:pt x="111125" y="3810"/>
                    <a:pt x="142875" y="45720"/>
                    <a:pt x="142875" y="114935"/>
                  </a:cubicBezTo>
                </a:path>
              </a:pathLst>
            </a:custGeom>
            <a:noFill/>
            <a:ln cap="rnd" cmpd="sng" w="22900">
              <a:solidFill>
                <a:schemeClr val="lt1"/>
              </a:solidFill>
              <a:prstDash val="solid"/>
              <a:round/>
              <a:headEnd len="sm" w="sm" type="none"/>
              <a:tailEnd len="sm" w="sm" type="none"/>
            </a:ln>
          </p:spPr>
          <p:txBody>
            <a:bodyPr anchorCtr="0" anchor="ctr" bIns="6800" lIns="6800" spcFirstLastPara="1" rIns="6800" wrap="square" tIns="6800">
              <a:noAutofit/>
            </a:bodyPr>
            <a:lstStyle/>
            <a:p>
              <a:pPr indent="0" lvl="0" marL="0" rtl="0" algn="l">
                <a:spcBef>
                  <a:spcPts val="0"/>
                </a:spcBef>
                <a:spcAft>
                  <a:spcPts val="0"/>
                </a:spcAft>
                <a:buNone/>
              </a:pPr>
              <a:r>
                <a:t/>
              </a:r>
              <a:endParaRPr/>
            </a:p>
          </p:txBody>
        </p:sp>
      </p:grpSp>
      <p:sp>
        <p:nvSpPr>
          <p:cNvPr id="186" name="Google Shape;186;p27"/>
          <p:cNvSpPr/>
          <p:nvPr/>
        </p:nvSpPr>
        <p:spPr>
          <a:xfrm>
            <a:off x="2930988" y="1373758"/>
            <a:ext cx="265113" cy="238601"/>
          </a:xfrm>
          <a:custGeom>
            <a:rect b="b" l="l" r="r" t="t"/>
            <a:pathLst>
              <a:path extrusionOk="0" fill="none" h="142875" w="158750">
                <a:moveTo>
                  <a:pt x="117475" y="27305"/>
                </a:moveTo>
                <a:cubicBezTo>
                  <a:pt x="121285" y="22860"/>
                  <a:pt x="127635" y="19685"/>
                  <a:pt x="135255" y="19685"/>
                </a:cubicBezTo>
                <a:cubicBezTo>
                  <a:pt x="147955" y="19685"/>
                  <a:pt x="158750" y="30480"/>
                  <a:pt x="158750" y="43180"/>
                </a:cubicBezTo>
                <a:cubicBezTo>
                  <a:pt x="158750" y="56515"/>
                  <a:pt x="147955" y="67310"/>
                  <a:pt x="135255" y="67310"/>
                </a:cubicBezTo>
                <a:lnTo>
                  <a:pt x="87630" y="67310"/>
                </a:lnTo>
                <a:moveTo>
                  <a:pt x="38100" y="7620"/>
                </a:moveTo>
                <a:cubicBezTo>
                  <a:pt x="41910" y="2540"/>
                  <a:pt x="48260" y="0"/>
                  <a:pt x="55880" y="0"/>
                </a:cubicBezTo>
                <a:cubicBezTo>
                  <a:pt x="68580" y="0"/>
                  <a:pt x="79375" y="10160"/>
                  <a:pt x="79375" y="23495"/>
                </a:cubicBezTo>
                <a:cubicBezTo>
                  <a:pt x="79375" y="36830"/>
                  <a:pt x="68580" y="47625"/>
                  <a:pt x="55880" y="47625"/>
                </a:cubicBezTo>
                <a:lnTo>
                  <a:pt x="0" y="47625"/>
                </a:lnTo>
                <a:moveTo>
                  <a:pt x="69850" y="134620"/>
                </a:moveTo>
                <a:cubicBezTo>
                  <a:pt x="73660" y="139700"/>
                  <a:pt x="80010" y="142875"/>
                  <a:pt x="87630" y="142875"/>
                </a:cubicBezTo>
                <a:cubicBezTo>
                  <a:pt x="100330" y="142875"/>
                  <a:pt x="111125" y="132080"/>
                  <a:pt x="111125" y="118745"/>
                </a:cubicBezTo>
                <a:cubicBezTo>
                  <a:pt x="111125" y="105410"/>
                  <a:pt x="100330" y="95250"/>
                  <a:pt x="87630" y="95250"/>
                </a:cubicBezTo>
                <a:lnTo>
                  <a:pt x="0" y="95250"/>
                </a:lnTo>
              </a:path>
            </a:pathLst>
          </a:custGeom>
          <a:noFill/>
          <a:ln cap="rnd" cmpd="sng" w="22900">
            <a:solidFill>
              <a:schemeClr val="lt1"/>
            </a:solidFill>
            <a:prstDash val="solid"/>
            <a:round/>
            <a:headEnd len="sm" w="sm" type="none"/>
            <a:tailEnd len="sm" w="sm" type="none"/>
          </a:ln>
        </p:spPr>
        <p:txBody>
          <a:bodyPr anchorCtr="0" anchor="ctr" bIns="73225" lIns="73225" spcFirstLastPara="1" rIns="73225" wrap="square" tIns="73225">
            <a:noAutofit/>
          </a:bodyPr>
          <a:lstStyle/>
          <a:p>
            <a:pPr indent="0" lvl="0" marL="0" rtl="0" algn="l">
              <a:spcBef>
                <a:spcPts val="0"/>
              </a:spcBef>
              <a:spcAft>
                <a:spcPts val="0"/>
              </a:spcAft>
              <a:buNone/>
            </a:pPr>
            <a:r>
              <a:t/>
            </a:r>
            <a:endParaRPr/>
          </a:p>
        </p:txBody>
      </p:sp>
      <p:sp>
        <p:nvSpPr>
          <p:cNvPr id="187" name="Google Shape;187;p27"/>
          <p:cNvSpPr/>
          <p:nvPr/>
        </p:nvSpPr>
        <p:spPr>
          <a:xfrm>
            <a:off x="1972841" y="1367925"/>
            <a:ext cx="265113" cy="253713"/>
          </a:xfrm>
          <a:custGeom>
            <a:rect b="b" l="l" r="r" t="t"/>
            <a:pathLst>
              <a:path extrusionOk="0" fill="none" h="151924" w="158750">
                <a:moveTo>
                  <a:pt x="31750" y="31750"/>
                </a:moveTo>
                <a:lnTo>
                  <a:pt x="67310" y="67310"/>
                </a:lnTo>
                <a:moveTo>
                  <a:pt x="31750" y="31750"/>
                </a:moveTo>
                <a:lnTo>
                  <a:pt x="8255" y="31750"/>
                </a:lnTo>
                <a:lnTo>
                  <a:pt x="0" y="8255"/>
                </a:lnTo>
                <a:lnTo>
                  <a:pt x="8255" y="0"/>
                </a:lnTo>
                <a:lnTo>
                  <a:pt x="31750" y="8255"/>
                </a:lnTo>
                <a:close/>
                <a:moveTo>
                  <a:pt x="137160" y="5715"/>
                </a:moveTo>
                <a:lnTo>
                  <a:pt x="116205" y="26670"/>
                </a:lnTo>
                <a:cubicBezTo>
                  <a:pt x="113030" y="29845"/>
                  <a:pt x="111125" y="31750"/>
                  <a:pt x="111125" y="33020"/>
                </a:cubicBezTo>
                <a:cubicBezTo>
                  <a:pt x="110490" y="34925"/>
                  <a:pt x="110490" y="36830"/>
                  <a:pt x="111125" y="38100"/>
                </a:cubicBezTo>
                <a:cubicBezTo>
                  <a:pt x="111125" y="40005"/>
                  <a:pt x="113030" y="41275"/>
                  <a:pt x="116205" y="44450"/>
                </a:cubicBezTo>
                <a:lnTo>
                  <a:pt x="118110" y="46355"/>
                </a:lnTo>
                <a:cubicBezTo>
                  <a:pt x="121285" y="49530"/>
                  <a:pt x="122555" y="51435"/>
                  <a:pt x="124460" y="52070"/>
                </a:cubicBezTo>
                <a:cubicBezTo>
                  <a:pt x="126365" y="52705"/>
                  <a:pt x="127635" y="52705"/>
                  <a:pt x="129540" y="52070"/>
                </a:cubicBezTo>
                <a:cubicBezTo>
                  <a:pt x="131445" y="51435"/>
                  <a:pt x="132715" y="49530"/>
                  <a:pt x="135890" y="46355"/>
                </a:cubicBezTo>
                <a:lnTo>
                  <a:pt x="155575" y="27305"/>
                </a:lnTo>
                <a:cubicBezTo>
                  <a:pt x="157480" y="32385"/>
                  <a:pt x="158750" y="38100"/>
                  <a:pt x="158750" y="43815"/>
                </a:cubicBezTo>
                <a:cubicBezTo>
                  <a:pt x="158750" y="67945"/>
                  <a:pt x="139065" y="87630"/>
                  <a:pt x="114935" y="87630"/>
                </a:cubicBezTo>
                <a:cubicBezTo>
                  <a:pt x="112395" y="87630"/>
                  <a:pt x="109220" y="86995"/>
                  <a:pt x="106680" y="86360"/>
                </a:cubicBezTo>
                <a:cubicBezTo>
                  <a:pt x="102870" y="85725"/>
                  <a:pt x="100965" y="85090"/>
                  <a:pt x="99695" y="85725"/>
                </a:cubicBezTo>
                <a:cubicBezTo>
                  <a:pt x="98425" y="85725"/>
                  <a:pt x="97790" y="85725"/>
                  <a:pt x="96520" y="86360"/>
                </a:cubicBezTo>
                <a:cubicBezTo>
                  <a:pt x="95885" y="86995"/>
                  <a:pt x="94615" y="88265"/>
                  <a:pt x="92710" y="90170"/>
                </a:cubicBezTo>
                <a:lnTo>
                  <a:pt x="35560" y="146685"/>
                </a:lnTo>
                <a:cubicBezTo>
                  <a:pt x="29210" y="153670"/>
                  <a:pt x="18415" y="153670"/>
                  <a:pt x="12065" y="146685"/>
                </a:cubicBezTo>
                <a:cubicBezTo>
                  <a:pt x="5080" y="140335"/>
                  <a:pt x="5080" y="129540"/>
                  <a:pt x="12065" y="123190"/>
                </a:cubicBezTo>
                <a:lnTo>
                  <a:pt x="68580" y="66040"/>
                </a:lnTo>
                <a:cubicBezTo>
                  <a:pt x="70485" y="64135"/>
                  <a:pt x="71755" y="62865"/>
                  <a:pt x="72390" y="62230"/>
                </a:cubicBezTo>
                <a:cubicBezTo>
                  <a:pt x="73025" y="60960"/>
                  <a:pt x="73025" y="60325"/>
                  <a:pt x="73025" y="59055"/>
                </a:cubicBezTo>
                <a:cubicBezTo>
                  <a:pt x="73660" y="57785"/>
                  <a:pt x="73025" y="55880"/>
                  <a:pt x="72390" y="52070"/>
                </a:cubicBezTo>
                <a:cubicBezTo>
                  <a:pt x="71755" y="49530"/>
                  <a:pt x="71755" y="46355"/>
                  <a:pt x="71755" y="43815"/>
                </a:cubicBezTo>
                <a:cubicBezTo>
                  <a:pt x="71755" y="19685"/>
                  <a:pt x="90805" y="0"/>
                  <a:pt x="114935" y="0"/>
                </a:cubicBezTo>
                <a:cubicBezTo>
                  <a:pt x="123190" y="0"/>
                  <a:pt x="130810" y="1905"/>
                  <a:pt x="137160" y="5715"/>
                </a:cubicBezTo>
                <a:close/>
                <a:moveTo>
                  <a:pt x="79375" y="102870"/>
                </a:moveTo>
                <a:lnTo>
                  <a:pt x="123190" y="146685"/>
                </a:lnTo>
                <a:cubicBezTo>
                  <a:pt x="129540" y="153670"/>
                  <a:pt x="140335" y="153670"/>
                  <a:pt x="146685" y="146685"/>
                </a:cubicBezTo>
                <a:cubicBezTo>
                  <a:pt x="153670" y="140335"/>
                  <a:pt x="153670" y="129540"/>
                  <a:pt x="146685" y="123190"/>
                </a:cubicBezTo>
                <a:lnTo>
                  <a:pt x="111125" y="86995"/>
                </a:lnTo>
                <a:cubicBezTo>
                  <a:pt x="108585" y="86995"/>
                  <a:pt x="106045" y="86360"/>
                  <a:pt x="103505" y="85725"/>
                </a:cubicBezTo>
                <a:cubicBezTo>
                  <a:pt x="100330" y="85090"/>
                  <a:pt x="97155" y="85725"/>
                  <a:pt x="94615" y="87630"/>
                </a:cubicBezTo>
                <a:close/>
              </a:path>
            </a:pathLst>
          </a:custGeom>
          <a:noFill/>
          <a:ln cap="rnd" cmpd="sng" w="22900">
            <a:solidFill>
              <a:schemeClr val="lt1"/>
            </a:solidFill>
            <a:prstDash val="solid"/>
            <a:round/>
            <a:headEnd len="sm" w="sm" type="none"/>
            <a:tailEnd len="sm" w="sm" type="none"/>
          </a:ln>
        </p:spPr>
        <p:txBody>
          <a:bodyPr anchorCtr="0" anchor="ctr" bIns="73225" lIns="73225" spcFirstLastPara="1" rIns="73225" wrap="square" tIns="73225">
            <a:noAutofit/>
          </a:bodyPr>
          <a:lstStyle/>
          <a:p>
            <a:pPr indent="0" lvl="0" marL="0" rtl="0" algn="l">
              <a:spcBef>
                <a:spcPts val="0"/>
              </a:spcBef>
              <a:spcAft>
                <a:spcPts val="0"/>
              </a:spcAft>
              <a:buNone/>
            </a:pPr>
            <a:r>
              <a:t/>
            </a:r>
            <a:endParaRPr/>
          </a:p>
        </p:txBody>
      </p:sp>
      <p:grpSp>
        <p:nvGrpSpPr>
          <p:cNvPr id="188" name="Google Shape;188;p27"/>
          <p:cNvGrpSpPr/>
          <p:nvPr/>
        </p:nvGrpSpPr>
        <p:grpSpPr>
          <a:xfrm>
            <a:off x="3893413" y="1385214"/>
            <a:ext cx="250916" cy="223036"/>
            <a:chOff x="4425589" y="2192000"/>
            <a:chExt cx="313253" cy="278447"/>
          </a:xfrm>
        </p:grpSpPr>
        <p:grpSp>
          <p:nvGrpSpPr>
            <p:cNvPr id="189" name="Google Shape;189;p27"/>
            <p:cNvGrpSpPr/>
            <p:nvPr/>
          </p:nvGrpSpPr>
          <p:grpSpPr>
            <a:xfrm>
              <a:off x="4425589" y="2192000"/>
              <a:ext cx="313253" cy="278447"/>
              <a:chOff x="1793875" y="1031875"/>
              <a:chExt cx="3571875" cy="3175000"/>
            </a:xfrm>
          </p:grpSpPr>
          <p:sp>
            <p:nvSpPr>
              <p:cNvPr id="190" name="Google Shape;190;p27"/>
              <p:cNvSpPr/>
              <p:nvPr/>
            </p:nvSpPr>
            <p:spPr>
              <a:xfrm>
                <a:off x="2682875" y="1031875"/>
                <a:ext cx="1778000" cy="1587500"/>
              </a:xfrm>
              <a:custGeom>
                <a:rect b="b" l="l" r="r" t="t"/>
                <a:pathLst>
                  <a:path extrusionOk="0" fill="none" h="63500" w="71120">
                    <a:moveTo>
                      <a:pt x="71120" y="0"/>
                    </a:moveTo>
                    <a:lnTo>
                      <a:pt x="35560" y="63500"/>
                    </a:lnTo>
                    <a:lnTo>
                      <a:pt x="0" y="0"/>
                    </a:lnTo>
                  </a:path>
                </a:pathLst>
              </a:custGeom>
              <a:noFill/>
              <a:ln cap="rnd" cmpd="sng" w="27875">
                <a:solidFill>
                  <a:schemeClr val="lt1"/>
                </a:solidFill>
                <a:prstDash val="solid"/>
                <a:round/>
                <a:headEnd len="sm" w="sm" type="none"/>
                <a:tailEnd len="sm" w="sm" type="none"/>
              </a:ln>
            </p:spPr>
            <p:txBody>
              <a:bodyPr anchorCtr="0" anchor="ctr" bIns="6400" lIns="6400" spcFirstLastPara="1" rIns="6400" wrap="square" tIns="6400">
                <a:noAutofit/>
              </a:bodyPr>
              <a:lstStyle/>
              <a:p>
                <a:pPr indent="0" lvl="0" marL="0" rtl="0" algn="l">
                  <a:spcBef>
                    <a:spcPts val="0"/>
                  </a:spcBef>
                  <a:spcAft>
                    <a:spcPts val="0"/>
                  </a:spcAft>
                  <a:buNone/>
                </a:pPr>
                <a:r>
                  <a:t/>
                </a:r>
                <a:endParaRPr/>
              </a:p>
            </p:txBody>
          </p:sp>
          <p:sp>
            <p:nvSpPr>
              <p:cNvPr id="191" name="Google Shape;191;p27"/>
              <p:cNvSpPr/>
              <p:nvPr/>
            </p:nvSpPr>
            <p:spPr>
              <a:xfrm>
                <a:off x="1793875" y="1031875"/>
                <a:ext cx="3571875" cy="3175000"/>
              </a:xfrm>
              <a:custGeom>
                <a:rect b="b" l="l" r="r" t="t"/>
                <a:pathLst>
                  <a:path extrusionOk="0" fill="none" h="127000" w="142875">
                    <a:moveTo>
                      <a:pt x="0" y="0"/>
                    </a:moveTo>
                    <a:lnTo>
                      <a:pt x="71120" y="127000"/>
                    </a:lnTo>
                    <a:lnTo>
                      <a:pt x="142875" y="0"/>
                    </a:lnTo>
                  </a:path>
                </a:pathLst>
              </a:custGeom>
              <a:noFill/>
              <a:ln cap="rnd" cmpd="sng" w="27875">
                <a:solidFill>
                  <a:schemeClr val="lt1"/>
                </a:solidFill>
                <a:prstDash val="solid"/>
                <a:round/>
                <a:headEnd len="sm" w="sm" type="none"/>
                <a:tailEnd len="sm" w="sm" type="none"/>
              </a:ln>
            </p:spPr>
            <p:txBody>
              <a:bodyPr anchorCtr="0" anchor="ctr" bIns="6400" lIns="6400" spcFirstLastPara="1" rIns="6400" wrap="square" tIns="6400">
                <a:noAutofit/>
              </a:bodyPr>
              <a:lstStyle/>
              <a:p>
                <a:pPr indent="0" lvl="0" marL="0" rtl="0" algn="l">
                  <a:spcBef>
                    <a:spcPts val="0"/>
                  </a:spcBef>
                  <a:spcAft>
                    <a:spcPts val="0"/>
                  </a:spcAft>
                  <a:buNone/>
                </a:pPr>
                <a:r>
                  <a:t/>
                </a:r>
                <a:endParaRPr/>
              </a:p>
            </p:txBody>
          </p:sp>
        </p:grpSp>
        <p:cxnSp>
          <p:nvCxnSpPr>
            <p:cNvPr id="192" name="Google Shape;192;p27"/>
            <p:cNvCxnSpPr/>
            <p:nvPr/>
          </p:nvCxnSpPr>
          <p:spPr>
            <a:xfrm>
              <a:off x="4502550" y="2331225"/>
              <a:ext cx="159900" cy="300"/>
            </a:xfrm>
            <a:prstGeom prst="straightConnector1">
              <a:avLst/>
            </a:prstGeom>
            <a:noFill/>
            <a:ln cap="flat" cmpd="sng" w="7625">
              <a:solidFill>
                <a:schemeClr val="lt1"/>
              </a:solidFill>
              <a:prstDash val="solid"/>
              <a:round/>
              <a:headEnd len="med" w="med" type="none"/>
              <a:tailEnd len="med" w="med" type="none"/>
            </a:ln>
          </p:spPr>
        </p:cxnSp>
        <p:cxnSp>
          <p:nvCxnSpPr>
            <p:cNvPr id="193" name="Google Shape;193;p27"/>
            <p:cNvCxnSpPr/>
            <p:nvPr/>
          </p:nvCxnSpPr>
          <p:spPr>
            <a:xfrm>
              <a:off x="4463900" y="2277525"/>
              <a:ext cx="92400" cy="0"/>
            </a:xfrm>
            <a:prstGeom prst="straightConnector1">
              <a:avLst/>
            </a:prstGeom>
            <a:noFill/>
            <a:ln cap="flat" cmpd="sng" w="7625">
              <a:solidFill>
                <a:schemeClr val="lt1"/>
              </a:solidFill>
              <a:prstDash val="solid"/>
              <a:round/>
              <a:headEnd len="med" w="med" type="none"/>
              <a:tailEnd len="med" w="med" type="none"/>
            </a:ln>
          </p:spPr>
        </p:cxnSp>
        <p:cxnSp>
          <p:nvCxnSpPr>
            <p:cNvPr id="194" name="Google Shape;194;p27"/>
            <p:cNvCxnSpPr/>
            <p:nvPr/>
          </p:nvCxnSpPr>
          <p:spPr>
            <a:xfrm>
              <a:off x="4608100" y="2277525"/>
              <a:ext cx="92400" cy="0"/>
            </a:xfrm>
            <a:prstGeom prst="straightConnector1">
              <a:avLst/>
            </a:prstGeom>
            <a:noFill/>
            <a:ln cap="flat" cmpd="sng" w="7625">
              <a:solidFill>
                <a:schemeClr val="lt1"/>
              </a:solidFill>
              <a:prstDash val="solid"/>
              <a:round/>
              <a:headEnd len="med" w="med" type="none"/>
              <a:tailEnd len="med" w="med" type="none"/>
            </a:ln>
          </p:spPr>
        </p:cxnSp>
        <p:cxnSp>
          <p:nvCxnSpPr>
            <p:cNvPr id="195" name="Google Shape;195;p27"/>
            <p:cNvCxnSpPr/>
            <p:nvPr/>
          </p:nvCxnSpPr>
          <p:spPr>
            <a:xfrm>
              <a:off x="4535150" y="2382175"/>
              <a:ext cx="92400" cy="0"/>
            </a:xfrm>
            <a:prstGeom prst="straightConnector1">
              <a:avLst/>
            </a:prstGeom>
            <a:noFill/>
            <a:ln cap="flat" cmpd="sng" w="7625">
              <a:solidFill>
                <a:schemeClr val="lt1"/>
              </a:solidFill>
              <a:prstDash val="solid"/>
              <a:round/>
              <a:headEnd len="med" w="med" type="none"/>
              <a:tailEnd len="med" w="med" type="none"/>
            </a:ln>
          </p:spPr>
        </p:cxnSp>
        <p:cxnSp>
          <p:nvCxnSpPr>
            <p:cNvPr id="196" name="Google Shape;196;p27"/>
            <p:cNvCxnSpPr/>
            <p:nvPr/>
          </p:nvCxnSpPr>
          <p:spPr>
            <a:xfrm>
              <a:off x="4443900" y="2223825"/>
              <a:ext cx="92400" cy="0"/>
            </a:xfrm>
            <a:prstGeom prst="straightConnector1">
              <a:avLst/>
            </a:prstGeom>
            <a:noFill/>
            <a:ln cap="flat" cmpd="sng" w="7625">
              <a:solidFill>
                <a:schemeClr val="lt1"/>
              </a:solidFill>
              <a:prstDash val="solid"/>
              <a:round/>
              <a:headEnd len="med" w="med" type="none"/>
              <a:tailEnd len="med" w="med" type="none"/>
            </a:ln>
          </p:spPr>
        </p:cxnSp>
        <p:cxnSp>
          <p:nvCxnSpPr>
            <p:cNvPr id="197" name="Google Shape;197;p27"/>
            <p:cNvCxnSpPr/>
            <p:nvPr/>
          </p:nvCxnSpPr>
          <p:spPr>
            <a:xfrm>
              <a:off x="4636025" y="2223825"/>
              <a:ext cx="92400" cy="0"/>
            </a:xfrm>
            <a:prstGeom prst="straightConnector1">
              <a:avLst/>
            </a:prstGeom>
            <a:noFill/>
            <a:ln cap="flat" cmpd="sng" w="7625">
              <a:solidFill>
                <a:schemeClr val="lt1"/>
              </a:solidFill>
              <a:prstDash val="solid"/>
              <a:round/>
              <a:headEnd len="med" w="med" type="none"/>
              <a:tailEnd len="med" w="med" type="none"/>
            </a:ln>
          </p:spPr>
        </p:cxnSp>
      </p:grpSp>
      <p:grpSp>
        <p:nvGrpSpPr>
          <p:cNvPr id="198" name="Google Shape;198;p27"/>
          <p:cNvGrpSpPr/>
          <p:nvPr/>
        </p:nvGrpSpPr>
        <p:grpSpPr>
          <a:xfrm>
            <a:off x="2092491" y="835554"/>
            <a:ext cx="955433" cy="288895"/>
            <a:chOff x="2020438" y="1504778"/>
            <a:chExt cx="1192800" cy="360668"/>
          </a:xfrm>
        </p:grpSpPr>
        <p:sp>
          <p:nvSpPr>
            <p:cNvPr id="199" name="Google Shape;199;p27"/>
            <p:cNvSpPr/>
            <p:nvPr/>
          </p:nvSpPr>
          <p:spPr>
            <a:xfrm>
              <a:off x="2022284" y="1504778"/>
              <a:ext cx="1188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1"/>
                <a:buFont typeface="Ubuntu"/>
                <a:buNone/>
              </a:pPr>
              <a:r>
                <a:rPr lang="en" sz="801">
                  <a:solidFill>
                    <a:srgbClr val="0C0074"/>
                  </a:solidFill>
                  <a:latin typeface="Lato"/>
                  <a:ea typeface="Lato"/>
                  <a:cs typeface="Lato"/>
                  <a:sym typeface="Lato"/>
                </a:rPr>
                <a:t>Edit setup</a:t>
              </a:r>
              <a:endParaRPr i="0" sz="801" u="none" cap="none" strike="noStrike">
                <a:solidFill>
                  <a:srgbClr val="0C0074"/>
                </a:solidFill>
                <a:latin typeface="Lato"/>
                <a:ea typeface="Lato"/>
                <a:cs typeface="Lato"/>
                <a:sym typeface="Lato"/>
              </a:endParaRPr>
            </a:p>
          </p:txBody>
        </p:sp>
        <p:cxnSp>
          <p:nvCxnSpPr>
            <p:cNvPr id="200" name="Google Shape;200;p27"/>
            <p:cNvCxnSpPr/>
            <p:nvPr/>
          </p:nvCxnSpPr>
          <p:spPr>
            <a:xfrm rot="10800000">
              <a:off x="2020438" y="1863646"/>
              <a:ext cx="1192800" cy="1800"/>
            </a:xfrm>
            <a:prstGeom prst="straightConnector1">
              <a:avLst/>
            </a:prstGeom>
            <a:noFill/>
            <a:ln cap="flat" cmpd="sng" w="7625">
              <a:solidFill>
                <a:srgbClr val="E2E4ED"/>
              </a:solidFill>
              <a:prstDash val="solid"/>
              <a:round/>
              <a:headEnd len="med" w="med" type="none"/>
              <a:tailEnd len="med" w="med" type="triangle"/>
            </a:ln>
          </p:spPr>
        </p:cxnSp>
      </p:grpSp>
      <p:grpSp>
        <p:nvGrpSpPr>
          <p:cNvPr id="201" name="Google Shape;201;p27"/>
          <p:cNvGrpSpPr/>
          <p:nvPr/>
        </p:nvGrpSpPr>
        <p:grpSpPr>
          <a:xfrm>
            <a:off x="4940607" y="835552"/>
            <a:ext cx="989257" cy="287355"/>
            <a:chOff x="4412632" y="1504791"/>
            <a:chExt cx="2398200" cy="358746"/>
          </a:xfrm>
        </p:grpSpPr>
        <p:sp>
          <p:nvSpPr>
            <p:cNvPr id="202" name="Google Shape;202;p27"/>
            <p:cNvSpPr/>
            <p:nvPr/>
          </p:nvSpPr>
          <p:spPr>
            <a:xfrm>
              <a:off x="4456866" y="1504791"/>
              <a:ext cx="23085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1"/>
                <a:buFont typeface="Ubuntu"/>
                <a:buNone/>
              </a:pPr>
              <a:r>
                <a:rPr lang="en" sz="801">
                  <a:solidFill>
                    <a:srgbClr val="0C0074"/>
                  </a:solidFill>
                  <a:latin typeface="Lato"/>
                  <a:ea typeface="Lato"/>
                  <a:cs typeface="Lato"/>
                  <a:sym typeface="Lato"/>
                </a:rPr>
                <a:t>Generate more data</a:t>
              </a:r>
              <a:endParaRPr i="0" sz="801" u="none" cap="none" strike="noStrike">
                <a:solidFill>
                  <a:srgbClr val="0C0074"/>
                </a:solidFill>
                <a:latin typeface="Lato"/>
                <a:ea typeface="Lato"/>
                <a:cs typeface="Lato"/>
                <a:sym typeface="Lato"/>
              </a:endParaRPr>
            </a:p>
          </p:txBody>
        </p:sp>
        <p:cxnSp>
          <p:nvCxnSpPr>
            <p:cNvPr id="203" name="Google Shape;203;p27"/>
            <p:cNvCxnSpPr/>
            <p:nvPr/>
          </p:nvCxnSpPr>
          <p:spPr>
            <a:xfrm flipH="1">
              <a:off x="4412632" y="1862936"/>
              <a:ext cx="2398200" cy="600"/>
            </a:xfrm>
            <a:prstGeom prst="straightConnector1">
              <a:avLst/>
            </a:prstGeom>
            <a:noFill/>
            <a:ln cap="flat" cmpd="sng" w="7625">
              <a:solidFill>
                <a:srgbClr val="E2E4ED"/>
              </a:solidFill>
              <a:prstDash val="solid"/>
              <a:round/>
              <a:headEnd len="med" w="med" type="none"/>
              <a:tailEnd len="med" w="med" type="triangle"/>
            </a:ln>
          </p:spPr>
        </p:cxnSp>
      </p:grpSp>
      <p:sp>
        <p:nvSpPr>
          <p:cNvPr id="204" name="Google Shape;204;p27"/>
          <p:cNvSpPr/>
          <p:nvPr/>
        </p:nvSpPr>
        <p:spPr>
          <a:xfrm>
            <a:off x="411480" y="2637390"/>
            <a:ext cx="8321100" cy="255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262626"/>
                </a:solidFill>
                <a:latin typeface="Lato Light"/>
                <a:ea typeface="Lato Light"/>
                <a:cs typeface="Lato Light"/>
                <a:sym typeface="Lato Light"/>
              </a:rPr>
              <a:t>Two ways to get speed, and gradients:</a:t>
            </a:r>
            <a:endParaRPr sz="1200">
              <a:solidFill>
                <a:srgbClr val="262626"/>
              </a:solidFill>
              <a:latin typeface="Lato Light"/>
              <a:ea typeface="Lato Light"/>
              <a:cs typeface="Lato Light"/>
              <a:sym typeface="Lato Light"/>
            </a:endParaRPr>
          </a:p>
        </p:txBody>
      </p:sp>
      <p:graphicFrame>
        <p:nvGraphicFramePr>
          <p:cNvPr id="205" name="Google Shape;205;p27"/>
          <p:cNvGraphicFramePr/>
          <p:nvPr/>
        </p:nvGraphicFramePr>
        <p:xfrm>
          <a:off x="1050725" y="2937975"/>
          <a:ext cx="3000000" cy="3000000"/>
        </p:xfrm>
        <a:graphic>
          <a:graphicData uri="http://schemas.openxmlformats.org/drawingml/2006/table">
            <a:tbl>
              <a:tblPr>
                <a:noFill/>
                <a:tableStyleId>{8E76B2B0-73CC-48BB-86DB-68C2D3C3028D}</a:tableStyleId>
              </a:tblPr>
              <a:tblGrid>
                <a:gridCol w="811950"/>
                <a:gridCol w="2998800"/>
                <a:gridCol w="2701800"/>
              </a:tblGrid>
              <a:tr h="349775">
                <a:tc>
                  <a:txBody>
                    <a:bodyPr/>
                    <a:lstStyle/>
                    <a:p>
                      <a:pPr indent="0" lvl="0" marL="0" rtl="0" algn="ctr">
                        <a:spcBef>
                          <a:spcPts val="0"/>
                        </a:spcBef>
                        <a:spcAft>
                          <a:spcPts val="0"/>
                        </a:spcAft>
                        <a:buNone/>
                      </a:pPr>
                      <a:r>
                        <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Neural surrogate</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Differentiable solver</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r>
              <a:tr h="48717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Idea</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Learn the map design → fields from simulation data</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Make the solver itself a program that gradients flow through</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Cost</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Expensive offline (data + training), ms at inference</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Cost of a solve, plus a backward pass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Trust</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Approximate: errors from data coverage, architecture and training; no built-in error estimate</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Physics exact up to discretization</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a:ea typeface="Lato"/>
                          <a:cs typeface="Lato"/>
                          <a:sym typeface="Lato"/>
                        </a:rPr>
                        <a:t>Today</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This talk!</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Lightning talk 1 (Niels), tutorial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alpha val="0"/>
                        </a:srgbClr>
                      </a:solidFill>
                      <a:prstDash val="solid"/>
                      <a:round/>
                      <a:headEnd len="sm" w="sm" type="none"/>
                      <a:tailEnd len="sm" w="sm" type="none"/>
                    </a:lnB>
                  </a:tcPr>
                </a:tc>
              </a:tr>
            </a:tbl>
          </a:graphicData>
        </a:graphic>
      </p:graphicFrame>
      <p:grpSp>
        <p:nvGrpSpPr>
          <p:cNvPr id="206" name="Google Shape;206;p27"/>
          <p:cNvGrpSpPr/>
          <p:nvPr/>
        </p:nvGrpSpPr>
        <p:grpSpPr>
          <a:xfrm>
            <a:off x="1920325" y="3377249"/>
            <a:ext cx="2941200" cy="1589509"/>
            <a:chOff x="1938475" y="3373678"/>
            <a:chExt cx="2941200" cy="1394429"/>
          </a:xfrm>
        </p:grpSpPr>
        <p:grpSp>
          <p:nvGrpSpPr>
            <p:cNvPr id="207" name="Google Shape;207;p27"/>
            <p:cNvGrpSpPr/>
            <p:nvPr/>
          </p:nvGrpSpPr>
          <p:grpSpPr>
            <a:xfrm>
              <a:off x="1938475" y="3373678"/>
              <a:ext cx="2941112" cy="1394429"/>
              <a:chOff x="2175328" y="2600698"/>
              <a:chExt cx="1988716" cy="1203754"/>
            </a:xfrm>
          </p:grpSpPr>
          <p:sp>
            <p:nvSpPr>
              <p:cNvPr id="208" name="Google Shape;208;p27"/>
              <p:cNvSpPr/>
              <p:nvPr/>
            </p:nvSpPr>
            <p:spPr>
              <a:xfrm>
                <a:off x="2175328" y="2600698"/>
                <a:ext cx="19236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7"/>
              <p:cNvSpPr/>
              <p:nvPr/>
            </p:nvSpPr>
            <p:spPr>
              <a:xfrm>
                <a:off x="2240444" y="2945275"/>
                <a:ext cx="1923600" cy="173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7"/>
              <p:cNvSpPr/>
              <p:nvPr/>
            </p:nvSpPr>
            <p:spPr>
              <a:xfrm>
                <a:off x="2228225" y="3575852"/>
                <a:ext cx="19236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1" name="Google Shape;211;p27"/>
            <p:cNvSpPr/>
            <p:nvPr/>
          </p:nvSpPr>
          <p:spPr>
            <a:xfrm>
              <a:off x="1938475" y="4064309"/>
              <a:ext cx="2941200" cy="338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12" name="Google Shape;212;p27" title="D3A_logo_SORT.png"/>
          <p:cNvPicPr preferRelativeResize="0"/>
          <p:nvPr/>
        </p:nvPicPr>
        <p:blipFill>
          <a:blip r:embed="rId4">
            <a:alphaModFix/>
          </a:blip>
          <a:stretch>
            <a:fillRect/>
          </a:stretch>
        </p:blipFill>
        <p:spPr>
          <a:xfrm>
            <a:off x="307250" y="4739650"/>
            <a:ext cx="406753" cy="228600"/>
          </a:xfrm>
          <a:prstGeom prst="rect">
            <a:avLst/>
          </a:prstGeom>
          <a:noFill/>
          <a:ln>
            <a:noFill/>
          </a:ln>
        </p:spPr>
      </p:pic>
      <p:sp>
        <p:nvSpPr>
          <p:cNvPr id="213" name="Google Shape;213;p27"/>
          <p:cNvSpPr/>
          <p:nvPr/>
        </p:nvSpPr>
        <p:spPr>
          <a:xfrm>
            <a:off x="5572875" y="1169025"/>
            <a:ext cx="744600" cy="1337100"/>
          </a:xfrm>
          <a:prstGeom prst="rect">
            <a:avLst/>
          </a:prstGeom>
          <a:noFill/>
          <a:ln cap="flat" cmpd="sng" w="19050">
            <a:solidFill>
              <a:srgbClr val="BA1E8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28"/>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Where does the physics go?</a:t>
            </a:r>
            <a:endParaRPr i="0" sz="2100" u="none" cap="none" strike="noStrike">
              <a:solidFill>
                <a:schemeClr val="dk1"/>
              </a:solidFill>
              <a:latin typeface="Ubuntu Light"/>
              <a:ea typeface="Ubuntu Light"/>
              <a:cs typeface="Ubuntu Light"/>
              <a:sym typeface="Ubuntu Light"/>
            </a:endParaRPr>
          </a:p>
        </p:txBody>
      </p:sp>
      <p:sp>
        <p:nvSpPr>
          <p:cNvPr id="220" name="Google Shape;220;p28"/>
          <p:cNvSpPr/>
          <p:nvPr/>
        </p:nvSpPr>
        <p:spPr>
          <a:xfrm>
            <a:off x="411480" y="868833"/>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The PINN loss as the example:</a:t>
            </a:r>
            <a:endParaRPr i="0" sz="1200" u="none" cap="none" strike="noStrike">
              <a:solidFill>
                <a:srgbClr val="262626"/>
              </a:solidFill>
              <a:latin typeface="Lato Light"/>
              <a:ea typeface="Lato Light"/>
              <a:cs typeface="Lato Light"/>
              <a:sym typeface="Lato Light"/>
            </a:endParaRPr>
          </a:p>
        </p:txBody>
      </p:sp>
      <p:pic>
        <p:nvPicPr>
          <p:cNvPr descr="preencoded.png" id="221" name="Google Shape;221;p28"/>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graphicFrame>
        <p:nvGraphicFramePr>
          <p:cNvPr id="222" name="Google Shape;222;p28"/>
          <p:cNvGraphicFramePr/>
          <p:nvPr/>
        </p:nvGraphicFramePr>
        <p:xfrm>
          <a:off x="1315725" y="2145663"/>
          <a:ext cx="3000000" cy="3000000"/>
        </p:xfrm>
        <a:graphic>
          <a:graphicData uri="http://schemas.openxmlformats.org/drawingml/2006/table">
            <a:tbl>
              <a:tblPr>
                <a:noFill/>
                <a:tableStyleId>{8E76B2B0-73CC-48BB-86DB-68C2D3C3028D}</a:tableStyleId>
              </a:tblPr>
              <a:tblGrid>
                <a:gridCol w="833375"/>
                <a:gridCol w="1860000"/>
                <a:gridCol w="1909600"/>
                <a:gridCol w="1909600"/>
              </a:tblGrid>
              <a:tr h="334925">
                <a:tc>
                  <a:txBody>
                    <a:bodyPr/>
                    <a:lstStyle/>
                    <a:p>
                      <a:pPr indent="0" lvl="0" marL="0" rtl="0" algn="ctr">
                        <a:spcBef>
                          <a:spcPts val="0"/>
                        </a:spcBef>
                        <a:spcAft>
                          <a:spcPts val="0"/>
                        </a:spcAft>
                        <a:buNone/>
                      </a:pPr>
                      <a:r>
                        <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Constrained</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Penalized/informed</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Architecture</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r>
              <a:tr h="48717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How</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Forced to satisfy the physical model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Physics as a penalty in the loss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Physical properties built into the model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Example</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Impose known solutions of the governing equation (e.g. hard BCs)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Add the governing equation; small deviations allowed (PINNs)	</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Encode general properties: symmetry, locality, conservation, multiscale</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solidFill>
                            <a:schemeClr val="dk1"/>
                          </a:solidFill>
                          <a:latin typeface="Lato"/>
                          <a:ea typeface="Lato"/>
                          <a:cs typeface="Lato"/>
                          <a:sym typeface="Lato"/>
                        </a:rPr>
                        <a:t>Strictness</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Exact</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Soft</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Structural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bl>
          </a:graphicData>
        </a:graphic>
      </p:graphicFrame>
      <p:pic>
        <p:nvPicPr>
          <p:cNvPr id="223" name="Google Shape;223;p28"/>
          <p:cNvPicPr preferRelativeResize="0"/>
          <p:nvPr/>
        </p:nvPicPr>
        <p:blipFill>
          <a:blip r:embed="rId4">
            <a:alphaModFix/>
          </a:blip>
          <a:stretch>
            <a:fillRect/>
          </a:stretch>
        </p:blipFill>
        <p:spPr>
          <a:xfrm>
            <a:off x="2127169" y="1359025"/>
            <a:ext cx="4889656" cy="460775"/>
          </a:xfrm>
          <a:prstGeom prst="rect">
            <a:avLst/>
          </a:prstGeom>
          <a:noFill/>
          <a:ln>
            <a:noFill/>
          </a:ln>
        </p:spPr>
      </p:pic>
      <p:sp>
        <p:nvSpPr>
          <p:cNvPr id="224" name="Google Shape;224;p28"/>
          <p:cNvSpPr/>
          <p:nvPr/>
        </p:nvSpPr>
        <p:spPr>
          <a:xfrm>
            <a:off x="640200" y="4168522"/>
            <a:ext cx="8321100" cy="542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   PINNs in practice: Lightning talk 2 (Jakob)</a:t>
            </a:r>
            <a:endParaRPr sz="1200">
              <a:solidFill>
                <a:srgbClr val="262626"/>
              </a:solidFill>
              <a:latin typeface="Lato Light"/>
              <a:ea typeface="Lato Light"/>
              <a:cs typeface="Lato Light"/>
              <a:sym typeface="Lato Light"/>
            </a:endParaRPr>
          </a:p>
          <a:p>
            <a:pPr indent="0" lvl="0" marL="0" marR="0" rtl="0" algn="l">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   </a:t>
            </a:r>
            <a:r>
              <a:rPr lang="en" sz="1200">
                <a:solidFill>
                  <a:srgbClr val="262626"/>
                </a:solidFill>
                <a:latin typeface="Lato Light"/>
                <a:ea typeface="Lato Light"/>
                <a:cs typeface="Lato Light"/>
                <a:sym typeface="Lato Light"/>
              </a:rPr>
              <a:t>The rest of this talk: the architecture column</a:t>
            </a:r>
            <a:endParaRPr sz="1200">
              <a:solidFill>
                <a:srgbClr val="262626"/>
              </a:solidFill>
              <a:latin typeface="Lato Light"/>
              <a:ea typeface="Lato Light"/>
              <a:cs typeface="Lato Light"/>
              <a:sym typeface="Lato Light"/>
            </a:endParaRPr>
          </a:p>
        </p:txBody>
      </p:sp>
      <p:grpSp>
        <p:nvGrpSpPr>
          <p:cNvPr id="225" name="Google Shape;225;p28"/>
          <p:cNvGrpSpPr/>
          <p:nvPr/>
        </p:nvGrpSpPr>
        <p:grpSpPr>
          <a:xfrm>
            <a:off x="2175325" y="2526425"/>
            <a:ext cx="1976500" cy="1352375"/>
            <a:chOff x="2175325" y="2526425"/>
            <a:chExt cx="1976500" cy="1352375"/>
          </a:xfrm>
        </p:grpSpPr>
        <p:sp>
          <p:nvSpPr>
            <p:cNvPr id="226" name="Google Shape;226;p28"/>
            <p:cNvSpPr/>
            <p:nvPr/>
          </p:nvSpPr>
          <p:spPr>
            <a:xfrm>
              <a:off x="2175325" y="2526425"/>
              <a:ext cx="1923600" cy="38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8"/>
            <p:cNvSpPr/>
            <p:nvPr/>
          </p:nvSpPr>
          <p:spPr>
            <a:xfrm>
              <a:off x="2175325" y="3060475"/>
              <a:ext cx="1923600" cy="460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8"/>
            <p:cNvSpPr/>
            <p:nvPr/>
          </p:nvSpPr>
          <p:spPr>
            <a:xfrm>
              <a:off x="2228225" y="3650200"/>
              <a:ext cx="19236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29" name="Google Shape;229;p28"/>
          <p:cNvGrpSpPr/>
          <p:nvPr/>
        </p:nvGrpSpPr>
        <p:grpSpPr>
          <a:xfrm>
            <a:off x="5953275" y="2526425"/>
            <a:ext cx="1976500" cy="1352375"/>
            <a:chOff x="2175325" y="2526425"/>
            <a:chExt cx="1976500" cy="1352375"/>
          </a:xfrm>
        </p:grpSpPr>
        <p:sp>
          <p:nvSpPr>
            <p:cNvPr id="230" name="Google Shape;230;p28"/>
            <p:cNvSpPr/>
            <p:nvPr/>
          </p:nvSpPr>
          <p:spPr>
            <a:xfrm>
              <a:off x="2175325" y="2526425"/>
              <a:ext cx="1923600" cy="38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8"/>
            <p:cNvSpPr/>
            <p:nvPr/>
          </p:nvSpPr>
          <p:spPr>
            <a:xfrm>
              <a:off x="2175325" y="3060475"/>
              <a:ext cx="1923600" cy="460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8"/>
            <p:cNvSpPr/>
            <p:nvPr/>
          </p:nvSpPr>
          <p:spPr>
            <a:xfrm>
              <a:off x="2228225" y="3650200"/>
              <a:ext cx="19236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33" name="Google Shape;233;p28" title="D3A_logo_SORT.png"/>
          <p:cNvPicPr preferRelativeResize="0"/>
          <p:nvPr/>
        </p:nvPicPr>
        <p:blipFill>
          <a:blip r:embed="rId5">
            <a:alphaModFix/>
          </a:blip>
          <a:stretch>
            <a:fillRect/>
          </a:stretch>
        </p:blipFill>
        <p:spPr>
          <a:xfrm>
            <a:off x="307250" y="4739650"/>
            <a:ext cx="406753" cy="22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29"/>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From learning a solution to learning the solver</a:t>
            </a:r>
            <a:endParaRPr i="0" sz="2100" u="none" cap="none" strike="noStrike">
              <a:solidFill>
                <a:schemeClr val="dk1"/>
              </a:solidFill>
              <a:latin typeface="Ubuntu Light"/>
              <a:ea typeface="Ubuntu Light"/>
              <a:cs typeface="Ubuntu Light"/>
              <a:sym typeface="Ubuntu Light"/>
            </a:endParaRPr>
          </a:p>
        </p:txBody>
      </p:sp>
      <p:sp>
        <p:nvSpPr>
          <p:cNvPr id="240" name="Google Shape;240;p29"/>
          <p:cNvSpPr/>
          <p:nvPr/>
        </p:nvSpPr>
        <p:spPr>
          <a:xfrm>
            <a:off x="411480" y="861200"/>
            <a:ext cx="83211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Learn the operator                                        (coefficients, BCs, geometry → solution field), independently of the discretization.</a:t>
            </a:r>
            <a:endParaRPr i="0" sz="1200" u="none" cap="none" strike="noStrike">
              <a:solidFill>
                <a:srgbClr val="262626"/>
              </a:solidFill>
              <a:latin typeface="Lato Light"/>
              <a:ea typeface="Lato Light"/>
              <a:cs typeface="Lato Light"/>
              <a:sym typeface="Lato Light"/>
            </a:endParaRPr>
          </a:p>
        </p:txBody>
      </p:sp>
      <p:pic>
        <p:nvPicPr>
          <p:cNvPr descr="preencoded.png" id="241" name="Google Shape;241;p29"/>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graphicFrame>
        <p:nvGraphicFramePr>
          <p:cNvPr id="242" name="Google Shape;242;p29"/>
          <p:cNvGraphicFramePr/>
          <p:nvPr/>
        </p:nvGraphicFramePr>
        <p:xfrm>
          <a:off x="411475" y="1229738"/>
          <a:ext cx="3000000" cy="3000000"/>
        </p:xfrm>
        <a:graphic>
          <a:graphicData uri="http://schemas.openxmlformats.org/drawingml/2006/table">
            <a:tbl>
              <a:tblPr>
                <a:noFill/>
                <a:tableStyleId>{8E76B2B0-73CC-48BB-86DB-68C2D3C3028D}</a:tableStyleId>
              </a:tblPr>
              <a:tblGrid>
                <a:gridCol w="3810850"/>
                <a:gridCol w="3912475"/>
              </a:tblGrid>
              <a:tr h="174950">
                <a:tc>
                  <a:txBody>
                    <a:bodyPr/>
                    <a:lstStyle/>
                    <a:p>
                      <a:pPr indent="0" lvl="0" marL="0" rtl="0" algn="ctr">
                        <a:spcBef>
                          <a:spcPts val="0"/>
                        </a:spcBef>
                        <a:spcAft>
                          <a:spcPts val="0"/>
                        </a:spcAft>
                        <a:buNone/>
                      </a:pPr>
                      <a:r>
                        <a:rPr lang="en" sz="1000">
                          <a:latin typeface="Lato"/>
                          <a:ea typeface="Lato"/>
                          <a:cs typeface="Lato"/>
                          <a:sym typeface="Lato"/>
                        </a:rPr>
                        <a:t>Fourier Neural Operator (FNO)</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DeepONet</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r>
              <a:tr h="381050">
                <a:tc>
                  <a:txBody>
                    <a:bodyPr/>
                    <a:lstStyle/>
                    <a:p>
                      <a:pPr indent="0" lvl="0" marL="0" rtl="0" algn="ctr">
                        <a:spcBef>
                          <a:spcPts val="0"/>
                        </a:spcBef>
                        <a:spcAft>
                          <a:spcPts val="0"/>
                        </a:spcAft>
                        <a:buNone/>
                      </a:pPr>
                      <a:r>
                        <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49800">
                <a:tc>
                  <a:txBody>
                    <a:bodyPr/>
                    <a:lstStyle/>
                    <a:p>
                      <a:pPr indent="0" lvl="0" marL="0" rtl="0" algn="ctr">
                        <a:spcBef>
                          <a:spcPts val="0"/>
                        </a:spcBef>
                        <a:spcAft>
                          <a:spcPts val="0"/>
                        </a:spcAft>
                        <a:buNone/>
                      </a:pPr>
                      <a:r>
                        <a:rPr lang="en" sz="1000">
                          <a:latin typeface="Lato Light"/>
                          <a:ea typeface="Lato Light"/>
                          <a:cs typeface="Lato Light"/>
                          <a:sym typeface="Lato Light"/>
                        </a:rPr>
                        <a:t>Global convolution in Fourier space, truncated to low modes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Global convolution in Fourier space, truncated to low modes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Light"/>
                          <a:ea typeface="Lato Light"/>
                          <a:cs typeface="Lato Light"/>
                          <a:sym typeface="Lato Light"/>
                        </a:rPr>
                        <a:t>Fast on regular grids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Arbitrary query points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Light"/>
                          <a:ea typeface="Lato Light"/>
                          <a:cs typeface="Lato Light"/>
                          <a:sym typeface="Lato Light"/>
                        </a:rPr>
                        <a:t>Needs a grid; struggles with complex geometry</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Basis is global, not adapted to the geometry</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bl>
          </a:graphicData>
        </a:graphic>
      </p:graphicFrame>
      <p:pic>
        <p:nvPicPr>
          <p:cNvPr id="243" name="Google Shape;243;p29"/>
          <p:cNvPicPr preferRelativeResize="0"/>
          <p:nvPr/>
        </p:nvPicPr>
        <p:blipFill rotWithShape="1">
          <a:blip r:embed="rId4">
            <a:alphaModFix/>
          </a:blip>
          <a:srcRect b="3035" l="0" r="0" t="0"/>
          <a:stretch/>
        </p:blipFill>
        <p:spPr>
          <a:xfrm>
            <a:off x="5526100" y="3056677"/>
            <a:ext cx="2608700" cy="1736601"/>
          </a:xfrm>
          <a:prstGeom prst="rect">
            <a:avLst/>
          </a:prstGeom>
          <a:noFill/>
          <a:ln>
            <a:noFill/>
          </a:ln>
        </p:spPr>
      </p:pic>
      <p:pic>
        <p:nvPicPr>
          <p:cNvPr id="244" name="Google Shape;244;p29"/>
          <p:cNvPicPr preferRelativeResize="0"/>
          <p:nvPr/>
        </p:nvPicPr>
        <p:blipFill>
          <a:blip r:embed="rId5">
            <a:alphaModFix/>
          </a:blip>
          <a:stretch>
            <a:fillRect/>
          </a:stretch>
        </p:blipFill>
        <p:spPr>
          <a:xfrm>
            <a:off x="1791878" y="902718"/>
            <a:ext cx="1032203" cy="199125"/>
          </a:xfrm>
          <a:prstGeom prst="rect">
            <a:avLst/>
          </a:prstGeom>
          <a:noFill/>
          <a:ln>
            <a:noFill/>
          </a:ln>
        </p:spPr>
      </p:pic>
      <p:pic>
        <p:nvPicPr>
          <p:cNvPr id="245" name="Google Shape;245;p29"/>
          <p:cNvPicPr preferRelativeResize="0"/>
          <p:nvPr/>
        </p:nvPicPr>
        <p:blipFill>
          <a:blip r:embed="rId6">
            <a:alphaModFix/>
          </a:blip>
          <a:stretch>
            <a:fillRect/>
          </a:stretch>
        </p:blipFill>
        <p:spPr>
          <a:xfrm>
            <a:off x="1080951" y="1674456"/>
            <a:ext cx="2361424" cy="166850"/>
          </a:xfrm>
          <a:prstGeom prst="rect">
            <a:avLst/>
          </a:prstGeom>
          <a:noFill/>
          <a:ln>
            <a:noFill/>
          </a:ln>
        </p:spPr>
      </p:pic>
      <p:pic>
        <p:nvPicPr>
          <p:cNvPr id="246" name="Google Shape;246;p29"/>
          <p:cNvPicPr preferRelativeResize="0"/>
          <p:nvPr/>
        </p:nvPicPr>
        <p:blipFill>
          <a:blip r:embed="rId7">
            <a:alphaModFix/>
          </a:blip>
          <a:stretch>
            <a:fillRect/>
          </a:stretch>
        </p:blipFill>
        <p:spPr>
          <a:xfrm>
            <a:off x="5556618" y="1588072"/>
            <a:ext cx="1212430" cy="324362"/>
          </a:xfrm>
          <a:prstGeom prst="rect">
            <a:avLst/>
          </a:prstGeom>
          <a:noFill/>
          <a:ln>
            <a:noFill/>
          </a:ln>
        </p:spPr>
      </p:pic>
      <p:grpSp>
        <p:nvGrpSpPr>
          <p:cNvPr id="247" name="Google Shape;247;p29"/>
          <p:cNvGrpSpPr/>
          <p:nvPr/>
        </p:nvGrpSpPr>
        <p:grpSpPr>
          <a:xfrm>
            <a:off x="4556725" y="1293525"/>
            <a:ext cx="3305100" cy="1602725"/>
            <a:chOff x="4556725" y="1293525"/>
            <a:chExt cx="3305100" cy="1602725"/>
          </a:xfrm>
        </p:grpSpPr>
        <p:grpSp>
          <p:nvGrpSpPr>
            <p:cNvPr id="248" name="Google Shape;248;p29"/>
            <p:cNvGrpSpPr/>
            <p:nvPr/>
          </p:nvGrpSpPr>
          <p:grpSpPr>
            <a:xfrm>
              <a:off x="4556725" y="1588075"/>
              <a:ext cx="3305100" cy="1010750"/>
              <a:chOff x="1557463" y="2526425"/>
              <a:chExt cx="3305100" cy="1010750"/>
            </a:xfrm>
          </p:grpSpPr>
          <p:sp>
            <p:nvSpPr>
              <p:cNvPr id="249" name="Google Shape;249;p29"/>
              <p:cNvSpPr/>
              <p:nvPr/>
            </p:nvSpPr>
            <p:spPr>
              <a:xfrm>
                <a:off x="2175338" y="2526425"/>
                <a:ext cx="1923600" cy="32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9"/>
              <p:cNvSpPr/>
              <p:nvPr/>
            </p:nvSpPr>
            <p:spPr>
              <a:xfrm>
                <a:off x="1557463" y="2915475"/>
                <a:ext cx="3305100" cy="25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9"/>
              <p:cNvSpPr/>
              <p:nvPr/>
            </p:nvSpPr>
            <p:spPr>
              <a:xfrm>
                <a:off x="2248200" y="3308575"/>
                <a:ext cx="19236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2" name="Google Shape;252;p29"/>
            <p:cNvSpPr/>
            <p:nvPr/>
          </p:nvSpPr>
          <p:spPr>
            <a:xfrm>
              <a:off x="4903754" y="2667650"/>
              <a:ext cx="25533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29"/>
            <p:cNvSpPr/>
            <p:nvPr/>
          </p:nvSpPr>
          <p:spPr>
            <a:xfrm>
              <a:off x="4987454" y="1293525"/>
              <a:ext cx="2553300" cy="22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54" name="Google Shape;254;p29" title="D3A_logo_SORT.png"/>
          <p:cNvPicPr preferRelativeResize="0"/>
          <p:nvPr/>
        </p:nvPicPr>
        <p:blipFill>
          <a:blip r:embed="rId8">
            <a:alphaModFix/>
          </a:blip>
          <a:stretch>
            <a:fillRect/>
          </a:stretch>
        </p:blipFill>
        <p:spPr>
          <a:xfrm>
            <a:off x="307250" y="4739650"/>
            <a:ext cx="406753" cy="228600"/>
          </a:xfrm>
          <a:prstGeom prst="rect">
            <a:avLst/>
          </a:prstGeom>
          <a:noFill/>
          <a:ln>
            <a:noFill/>
          </a:ln>
        </p:spPr>
      </p:pic>
      <p:pic>
        <p:nvPicPr>
          <p:cNvPr id="255" name="Google Shape;255;p29" title="d3a_fourier_neural_operator_mod.png"/>
          <p:cNvPicPr preferRelativeResize="0"/>
          <p:nvPr/>
        </p:nvPicPr>
        <p:blipFill rotWithShape="1">
          <a:blip r:embed="rId9">
            <a:alphaModFix/>
          </a:blip>
          <a:srcRect b="0" l="0" r="0" t="17567"/>
          <a:stretch/>
        </p:blipFill>
        <p:spPr>
          <a:xfrm>
            <a:off x="491550" y="3232174"/>
            <a:ext cx="3922151" cy="132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4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30"/>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What industrial CAE actually looks like</a:t>
            </a:r>
            <a:endParaRPr i="0" sz="2100" u="none" cap="none" strike="noStrike">
              <a:solidFill>
                <a:schemeClr val="dk1"/>
              </a:solidFill>
              <a:latin typeface="Ubuntu Light"/>
              <a:ea typeface="Ubuntu Light"/>
              <a:cs typeface="Ubuntu Light"/>
              <a:sym typeface="Ubuntu Light"/>
            </a:endParaRPr>
          </a:p>
        </p:txBody>
      </p:sp>
      <p:pic>
        <p:nvPicPr>
          <p:cNvPr descr="preencoded.png" id="262" name="Google Shape;262;p30"/>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sp>
        <p:nvSpPr>
          <p:cNvPr id="263" name="Google Shape;263;p30"/>
          <p:cNvSpPr/>
          <p:nvPr/>
        </p:nvSpPr>
        <p:spPr>
          <a:xfrm>
            <a:off x="411475" y="861200"/>
            <a:ext cx="8412600" cy="1191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6B7280"/>
              </a:buClr>
              <a:buSzPts val="1100"/>
              <a:buFont typeface="Lato"/>
              <a:buNone/>
            </a:pPr>
            <a:r>
              <a:rPr lang="en" sz="1200">
                <a:solidFill>
                  <a:srgbClr val="262626"/>
                </a:solidFill>
                <a:latin typeface="Lato"/>
                <a:ea typeface="Lato"/>
                <a:cs typeface="Lato"/>
                <a:sym typeface="Lato"/>
              </a:rPr>
              <a:t>Steady (BVP): </a:t>
            </a:r>
            <a:r>
              <a:rPr lang="en" sz="1200">
                <a:solidFill>
                  <a:srgbClr val="262626"/>
                </a:solidFill>
                <a:latin typeface="Lato Light"/>
                <a:ea typeface="Lato Light"/>
                <a:cs typeface="Lato Light"/>
                <a:sym typeface="Lato Light"/>
              </a:rPr>
              <a:t>the boundary shapes the whole domain → global reach in one forward pass</a:t>
            </a:r>
            <a:br>
              <a:rPr lang="en" sz="1200">
                <a:solidFill>
                  <a:srgbClr val="262626"/>
                </a:solidFill>
                <a:latin typeface="Lato Light"/>
                <a:ea typeface="Lato Light"/>
                <a:cs typeface="Lato Light"/>
                <a:sym typeface="Lato Light"/>
              </a:rPr>
            </a:br>
            <a:r>
              <a:rPr lang="en" sz="1200">
                <a:solidFill>
                  <a:srgbClr val="262626"/>
                </a:solidFill>
                <a:latin typeface="Lato"/>
                <a:ea typeface="Lato"/>
                <a:cs typeface="Lato"/>
                <a:sym typeface="Lato"/>
              </a:rPr>
              <a:t>Evolution (IVP/IBVP)</a:t>
            </a:r>
            <a:r>
              <a:rPr lang="en" sz="1200">
                <a:solidFill>
                  <a:srgbClr val="262626"/>
                </a:solidFill>
                <a:latin typeface="Lato Light"/>
                <a:ea typeface="Lato Light"/>
                <a:cs typeface="Lato Light"/>
                <a:sym typeface="Lato Light"/>
              </a:rPr>
              <a:t>: march from an initial state → stable long rollouts</a:t>
            </a:r>
            <a:br>
              <a:rPr lang="en" sz="1200">
                <a:solidFill>
                  <a:srgbClr val="262626"/>
                </a:solidFill>
                <a:latin typeface="Lato Light"/>
                <a:ea typeface="Lato Light"/>
                <a:cs typeface="Lato Light"/>
                <a:sym typeface="Lato Light"/>
              </a:rPr>
            </a:br>
            <a:r>
              <a:rPr lang="en" sz="1200">
                <a:solidFill>
                  <a:srgbClr val="262626"/>
                </a:solidFill>
                <a:latin typeface="Lato"/>
                <a:ea typeface="Lato"/>
                <a:cs typeface="Lato"/>
                <a:sym typeface="Lato"/>
              </a:rPr>
              <a:t>Multiphysics:</a:t>
            </a:r>
            <a:r>
              <a:rPr lang="en" sz="1200">
                <a:solidFill>
                  <a:srgbClr val="262626"/>
                </a:solidFill>
                <a:latin typeface="Lato Light"/>
                <a:ea typeface="Lato Light"/>
                <a:cs typeface="Lato Light"/>
                <a:sym typeface="Lato Light"/>
              </a:rPr>
              <a:t> coupled fields across scales and solvers → information across interfaces</a:t>
            </a:r>
            <a:br>
              <a:rPr lang="en" sz="1200">
                <a:solidFill>
                  <a:srgbClr val="262626"/>
                </a:solidFill>
                <a:latin typeface="Lato"/>
                <a:ea typeface="Lato"/>
                <a:cs typeface="Lato"/>
                <a:sym typeface="Lato"/>
              </a:rPr>
            </a:br>
            <a:r>
              <a:rPr lang="en" sz="1200">
                <a:solidFill>
                  <a:srgbClr val="262626"/>
                </a:solidFill>
                <a:latin typeface="Lato Light"/>
                <a:ea typeface="Lato Light"/>
                <a:cs typeface="Lato Light"/>
                <a:sym typeface="Lato Light"/>
              </a:rPr>
              <a:t>→ </a:t>
            </a:r>
            <a:r>
              <a:rPr lang="en" sz="1200">
                <a:solidFill>
                  <a:srgbClr val="262626"/>
                </a:solidFill>
                <a:latin typeface="Lato"/>
                <a:ea typeface="Lato"/>
                <a:cs typeface="Lato"/>
                <a:sym typeface="Lato"/>
              </a:rPr>
              <a:t>Unstructured meshes</a:t>
            </a:r>
            <a:r>
              <a:rPr lang="en" sz="1200">
                <a:solidFill>
                  <a:srgbClr val="262626"/>
                </a:solidFill>
                <a:latin typeface="Lato Light"/>
                <a:ea typeface="Lato Light"/>
                <a:cs typeface="Lato Light"/>
                <a:sym typeface="Lato Light"/>
              </a:rPr>
              <a:t> of 10⁵–10⁸ cells, and </a:t>
            </a:r>
            <a:r>
              <a:rPr lang="en" sz="1200">
                <a:solidFill>
                  <a:srgbClr val="262626"/>
                </a:solidFill>
                <a:latin typeface="Lato"/>
                <a:ea typeface="Lato"/>
                <a:cs typeface="Lato"/>
                <a:sym typeface="Lato"/>
              </a:rPr>
              <a:t>hundreds of samples</a:t>
            </a:r>
            <a:r>
              <a:rPr lang="en" sz="1200">
                <a:solidFill>
                  <a:srgbClr val="262626"/>
                </a:solidFill>
                <a:latin typeface="Lato Light"/>
                <a:ea typeface="Lato Light"/>
                <a:cs typeface="Lato Light"/>
                <a:sym typeface="Lato Light"/>
              </a:rPr>
              <a:t> (not millions)</a:t>
            </a:r>
            <a:endParaRPr sz="1200">
              <a:solidFill>
                <a:srgbClr val="262626"/>
              </a:solidFill>
              <a:latin typeface="Lato Light"/>
              <a:ea typeface="Lato Light"/>
              <a:cs typeface="Lato Light"/>
              <a:sym typeface="Lato Light"/>
            </a:endParaRPr>
          </a:p>
        </p:txBody>
      </p:sp>
      <p:grpSp>
        <p:nvGrpSpPr>
          <p:cNvPr id="264" name="Google Shape;264;p30"/>
          <p:cNvGrpSpPr/>
          <p:nvPr/>
        </p:nvGrpSpPr>
        <p:grpSpPr>
          <a:xfrm>
            <a:off x="465600" y="2192025"/>
            <a:ext cx="3415200" cy="2257850"/>
            <a:chOff x="465600" y="2192025"/>
            <a:chExt cx="3415200" cy="2257850"/>
          </a:xfrm>
        </p:grpSpPr>
        <p:grpSp>
          <p:nvGrpSpPr>
            <p:cNvPr id="265" name="Google Shape;265;p30"/>
            <p:cNvGrpSpPr/>
            <p:nvPr/>
          </p:nvGrpSpPr>
          <p:grpSpPr>
            <a:xfrm>
              <a:off x="465600" y="2192025"/>
              <a:ext cx="3415200" cy="2257850"/>
              <a:chOff x="465600" y="2192025"/>
              <a:chExt cx="3415200" cy="2257850"/>
            </a:xfrm>
          </p:grpSpPr>
          <p:pic>
            <p:nvPicPr>
              <p:cNvPr id="266" name="Google Shape;266;p30"/>
              <p:cNvPicPr preferRelativeResize="0"/>
              <p:nvPr/>
            </p:nvPicPr>
            <p:blipFill rotWithShape="1">
              <a:blip r:embed="rId4">
                <a:alphaModFix/>
              </a:blip>
              <a:srcRect b="21210" l="6994" r="0" t="0"/>
              <a:stretch/>
            </p:blipFill>
            <p:spPr>
              <a:xfrm>
                <a:off x="1045675" y="3169100"/>
                <a:ext cx="1836825" cy="1280775"/>
              </a:xfrm>
              <a:prstGeom prst="rect">
                <a:avLst/>
              </a:prstGeom>
              <a:noFill/>
              <a:ln>
                <a:noFill/>
              </a:ln>
            </p:spPr>
          </p:pic>
          <p:sp>
            <p:nvSpPr>
              <p:cNvPr id="267" name="Google Shape;267;p30"/>
              <p:cNvSpPr/>
              <p:nvPr/>
            </p:nvSpPr>
            <p:spPr>
              <a:xfrm>
                <a:off x="465600" y="2192025"/>
                <a:ext cx="3415200" cy="738900"/>
              </a:xfrm>
              <a:prstGeom prst="roundRect">
                <a:avLst>
                  <a:gd fmla="val 3478" name="adj"/>
                </a:avLst>
              </a:prstGeom>
              <a:solidFill>
                <a:srgbClr val="F1F2F6"/>
              </a:solidFill>
              <a:ln cap="flat" cmpd="sng" w="12700">
                <a:solidFill>
                  <a:srgbClr val="F1F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30"/>
            <p:cNvSpPr txBox="1"/>
            <p:nvPr/>
          </p:nvSpPr>
          <p:spPr>
            <a:xfrm>
              <a:off x="579450" y="2250425"/>
              <a:ext cx="3214092" cy="68047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 sz="1050">
                  <a:solidFill>
                    <a:srgbClr val="3C4150"/>
                  </a:solidFill>
                  <a:latin typeface="Lato"/>
                  <a:ea typeface="Lato"/>
                  <a:cs typeface="Lato"/>
                  <a:sym typeface="Lato"/>
                </a:rPr>
                <a:t>Centrifugal pump</a:t>
              </a:r>
              <a:endParaRPr sz="1050">
                <a:solidFill>
                  <a:srgbClr val="3C4150"/>
                </a:solidFill>
                <a:latin typeface="Lato"/>
                <a:ea typeface="Lato"/>
                <a:cs typeface="Lato"/>
                <a:sym typeface="Lato"/>
              </a:endParaRPr>
            </a:p>
            <a:p>
              <a:pPr indent="-127000" lvl="0" marL="127000" marR="0" rtl="0" algn="l">
                <a:spcBef>
                  <a:spcPts val="0"/>
                </a:spcBef>
                <a:spcAft>
                  <a:spcPts val="0"/>
                </a:spcAft>
                <a:buClr>
                  <a:srgbClr val="3C4150"/>
                </a:buClr>
                <a:buSzPts val="1050"/>
                <a:buFont typeface="Lato"/>
                <a:buChar char="•"/>
              </a:pPr>
              <a:r>
                <a:rPr lang="en" sz="1050">
                  <a:solidFill>
                    <a:srgbClr val="3C4150"/>
                  </a:solidFill>
                  <a:latin typeface="Lato"/>
                  <a:ea typeface="Lato"/>
                  <a:cs typeface="Lato"/>
                  <a:sym typeface="Lato"/>
                </a:rPr>
                <a:t>300 samples</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3C4150"/>
                </a:buClr>
                <a:buSzPts val="1050"/>
                <a:buFont typeface="Lato"/>
                <a:buChar char="•"/>
              </a:pPr>
              <a:r>
                <a:rPr lang="en" sz="1050">
                  <a:solidFill>
                    <a:srgbClr val="3C4150"/>
                  </a:solidFill>
                  <a:latin typeface="Lato"/>
                  <a:ea typeface="Lato"/>
                  <a:cs typeface="Lato"/>
                  <a:sym typeface="Lato"/>
                </a:rPr>
                <a:t>~269MB, 1.4M cells, </a:t>
              </a:r>
              <a:r>
                <a:rPr lang="en" sz="1050">
                  <a:solidFill>
                    <a:srgbClr val="3C4150"/>
                  </a:solidFill>
                  <a:latin typeface="Lato"/>
                  <a:ea typeface="Lato"/>
                  <a:cs typeface="Lato"/>
                  <a:sym typeface="Lato"/>
                </a:rPr>
                <a:t>~80</a:t>
              </a:r>
              <a:r>
                <a:rPr b="0" i="0" lang="en" sz="1050" u="none" cap="none" strike="noStrike">
                  <a:solidFill>
                    <a:srgbClr val="3C4150"/>
                  </a:solidFill>
                  <a:latin typeface="Lato"/>
                  <a:ea typeface="Lato"/>
                  <a:cs typeface="Lato"/>
                  <a:sym typeface="Lato"/>
                </a:rPr>
                <a:t> </a:t>
              </a:r>
              <a:r>
                <a:rPr lang="en" sz="1050">
                  <a:solidFill>
                    <a:srgbClr val="3C4150"/>
                  </a:solidFill>
                  <a:latin typeface="Lato"/>
                  <a:ea typeface="Lato"/>
                  <a:cs typeface="Lato"/>
                  <a:sym typeface="Lato"/>
                </a:rPr>
                <a:t>GB</a:t>
              </a:r>
              <a:r>
                <a:rPr b="0" i="0" lang="en" sz="1050" u="none" cap="none" strike="noStrike">
                  <a:solidFill>
                    <a:srgbClr val="3C4150"/>
                  </a:solidFill>
                  <a:latin typeface="Lato"/>
                  <a:ea typeface="Lato"/>
                  <a:cs typeface="Lato"/>
                  <a:sym typeface="Lato"/>
                </a:rPr>
                <a:t> in total</a:t>
              </a:r>
              <a:endParaRPr b="0" i="0" sz="1050" u="none" cap="none" strike="noStrike">
                <a:solidFill>
                  <a:srgbClr val="000000"/>
                </a:solidFill>
                <a:latin typeface="Calibri"/>
                <a:ea typeface="Calibri"/>
                <a:cs typeface="Calibri"/>
                <a:sym typeface="Calibri"/>
              </a:endParaRPr>
            </a:p>
          </p:txBody>
        </p:sp>
      </p:grpSp>
      <p:grpSp>
        <p:nvGrpSpPr>
          <p:cNvPr id="269" name="Google Shape;269;p30"/>
          <p:cNvGrpSpPr/>
          <p:nvPr/>
        </p:nvGrpSpPr>
        <p:grpSpPr>
          <a:xfrm>
            <a:off x="4549449" y="2192025"/>
            <a:ext cx="3816542" cy="2440850"/>
            <a:chOff x="4549449" y="2192025"/>
            <a:chExt cx="3816542" cy="2440850"/>
          </a:xfrm>
        </p:grpSpPr>
        <p:pic>
          <p:nvPicPr>
            <p:cNvPr descr="/home/claude/img/drivaer_ux.png" id="270" name="Google Shape;270;p30"/>
            <p:cNvPicPr preferRelativeResize="0"/>
            <p:nvPr/>
          </p:nvPicPr>
          <p:blipFill rotWithShape="1">
            <a:blip r:embed="rId5">
              <a:alphaModFix/>
            </a:blip>
            <a:srcRect b="0" l="15659" r="15721" t="0"/>
            <a:stretch/>
          </p:blipFill>
          <p:spPr>
            <a:xfrm>
              <a:off x="4549487" y="3186112"/>
              <a:ext cx="3816474" cy="1161275"/>
            </a:xfrm>
            <a:prstGeom prst="rect">
              <a:avLst/>
            </a:prstGeom>
            <a:noFill/>
            <a:ln>
              <a:noFill/>
            </a:ln>
          </p:spPr>
        </p:pic>
        <p:grpSp>
          <p:nvGrpSpPr>
            <p:cNvPr id="271" name="Google Shape;271;p30"/>
            <p:cNvGrpSpPr/>
            <p:nvPr/>
          </p:nvGrpSpPr>
          <p:grpSpPr>
            <a:xfrm>
              <a:off x="4549449" y="2192025"/>
              <a:ext cx="3816542" cy="738950"/>
              <a:chOff x="320050" y="2824100"/>
              <a:chExt cx="4114871" cy="1061100"/>
            </a:xfrm>
          </p:grpSpPr>
          <p:sp>
            <p:nvSpPr>
              <p:cNvPr id="272" name="Google Shape;272;p30"/>
              <p:cNvSpPr/>
              <p:nvPr/>
            </p:nvSpPr>
            <p:spPr>
              <a:xfrm>
                <a:off x="320050" y="2824100"/>
                <a:ext cx="4114800" cy="1061100"/>
              </a:xfrm>
              <a:prstGeom prst="roundRect">
                <a:avLst>
                  <a:gd fmla="val 3478" name="adj"/>
                </a:avLst>
              </a:prstGeom>
              <a:solidFill>
                <a:srgbClr val="F1F2F6"/>
              </a:solidFill>
              <a:ln cap="flat" cmpd="sng" w="12700">
                <a:solidFill>
                  <a:srgbClr val="F1F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0"/>
              <p:cNvSpPr txBox="1"/>
              <p:nvPr/>
            </p:nvSpPr>
            <p:spPr>
              <a:xfrm>
                <a:off x="457221" y="2898659"/>
                <a:ext cx="3977700" cy="918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 sz="1050">
                    <a:solidFill>
                      <a:srgbClr val="3C4150"/>
                    </a:solidFill>
                    <a:latin typeface="Lato"/>
                    <a:ea typeface="Lato"/>
                    <a:cs typeface="Lato"/>
                    <a:sym typeface="Lato"/>
                  </a:rPr>
                  <a:t>Car aero dynamics (DrivAerML dataset)</a:t>
                </a:r>
                <a:endParaRPr sz="1050">
                  <a:solidFill>
                    <a:srgbClr val="3C4150"/>
                  </a:solidFill>
                  <a:latin typeface="Lato"/>
                  <a:ea typeface="Lato"/>
                  <a:cs typeface="Lato"/>
                  <a:sym typeface="Lato"/>
                </a:endParaRPr>
              </a:p>
              <a:p>
                <a:pPr indent="-127000" lvl="0" marL="127000" marR="0" rtl="0" algn="l">
                  <a:spcBef>
                    <a:spcPts val="0"/>
                  </a:spcBef>
                  <a:spcAft>
                    <a:spcPts val="0"/>
                  </a:spcAft>
                  <a:buClr>
                    <a:srgbClr val="3C4150"/>
                  </a:buClr>
                  <a:buSzPts val="1050"/>
                  <a:buFont typeface="Lato"/>
                  <a:buChar char="•"/>
                </a:pPr>
                <a:r>
                  <a:rPr lang="en" sz="1050">
                    <a:solidFill>
                      <a:srgbClr val="3C4150"/>
                    </a:solidFill>
                    <a:latin typeface="Lato"/>
                    <a:ea typeface="Lato"/>
                    <a:cs typeface="Lato"/>
                    <a:sym typeface="Lato"/>
                  </a:rPr>
                  <a:t>500 samples</a:t>
                </a:r>
                <a:endParaRPr b="0" i="0" sz="1050" u="none" cap="none" strike="noStrike">
                  <a:solidFill>
                    <a:srgbClr val="000000"/>
                  </a:solidFill>
                  <a:latin typeface="Calibri"/>
                  <a:ea typeface="Calibri"/>
                  <a:cs typeface="Calibri"/>
                  <a:sym typeface="Calibri"/>
                </a:endParaRPr>
              </a:p>
              <a:p>
                <a:pPr indent="-127000" lvl="0" marL="127000" marR="0" rtl="0" algn="l">
                  <a:spcBef>
                    <a:spcPts val="300"/>
                  </a:spcBef>
                  <a:spcAft>
                    <a:spcPts val="0"/>
                  </a:spcAft>
                  <a:buClr>
                    <a:srgbClr val="3C4150"/>
                  </a:buClr>
                  <a:buSzPts val="1050"/>
                  <a:buFont typeface="Lato"/>
                  <a:buChar char="•"/>
                </a:pPr>
                <a:r>
                  <a:rPr b="0" i="0" lang="en" sz="1050" u="none" cap="none" strike="noStrike">
                    <a:solidFill>
                      <a:srgbClr val="3C4150"/>
                    </a:solidFill>
                    <a:latin typeface="Lato"/>
                    <a:ea typeface="Lato"/>
                    <a:cs typeface="Lato"/>
                    <a:sym typeface="Lato"/>
                  </a:rPr>
                  <a:t>~0.6 GB, </a:t>
                </a:r>
                <a:r>
                  <a:rPr lang="en" sz="1050">
                    <a:solidFill>
                      <a:srgbClr val="3C4150"/>
                    </a:solidFill>
                    <a:latin typeface="Lato"/>
                    <a:ea typeface="Lato"/>
                    <a:cs typeface="Lato"/>
                    <a:sym typeface="Lato"/>
                  </a:rPr>
                  <a:t>~9M points/</a:t>
                </a:r>
                <a:r>
                  <a:rPr b="0" i="0" lang="en" sz="1050" u="none" cap="none" strike="noStrike">
                    <a:solidFill>
                      <a:srgbClr val="3C4150"/>
                    </a:solidFill>
                    <a:latin typeface="Lato"/>
                    <a:ea typeface="Lato"/>
                    <a:cs typeface="Lato"/>
                    <a:sym typeface="Lato"/>
                  </a:rPr>
                  <a:t>~45 GB, </a:t>
                </a:r>
                <a:r>
                  <a:rPr lang="en" sz="1050">
                    <a:solidFill>
                      <a:srgbClr val="3C4150"/>
                    </a:solidFill>
                    <a:latin typeface="Lato"/>
                    <a:ea typeface="Lato"/>
                    <a:cs typeface="Lato"/>
                    <a:sym typeface="Lato"/>
                  </a:rPr>
                  <a:t>~160M cells, ~</a:t>
                </a:r>
                <a:r>
                  <a:rPr b="0" i="0" lang="en" sz="1050" u="none" cap="none" strike="noStrike">
                    <a:solidFill>
                      <a:srgbClr val="3C4150"/>
                    </a:solidFill>
                    <a:latin typeface="Lato"/>
                    <a:ea typeface="Lato"/>
                    <a:cs typeface="Lato"/>
                    <a:sym typeface="Lato"/>
                  </a:rPr>
                  <a:t>31 TB in total</a:t>
                </a:r>
                <a:endParaRPr b="0" i="0" sz="1050" u="none" cap="none" strike="noStrike">
                  <a:solidFill>
                    <a:srgbClr val="000000"/>
                  </a:solidFill>
                  <a:latin typeface="Calibri"/>
                  <a:ea typeface="Calibri"/>
                  <a:cs typeface="Calibri"/>
                  <a:sym typeface="Calibri"/>
                </a:endParaRPr>
              </a:p>
            </p:txBody>
          </p:sp>
        </p:grpSp>
        <p:sp>
          <p:nvSpPr>
            <p:cNvPr id="274" name="Google Shape;274;p30"/>
            <p:cNvSpPr txBox="1"/>
            <p:nvPr/>
          </p:nvSpPr>
          <p:spPr>
            <a:xfrm>
              <a:off x="4549473" y="4449875"/>
              <a:ext cx="1350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E"/>
                </a:buClr>
                <a:buSzPts val="750"/>
                <a:buFont typeface="Lato"/>
                <a:buNone/>
              </a:pPr>
              <a:r>
                <a:rPr b="0" i="1" lang="en" sz="750" u="none" cap="none" strike="noStrike">
                  <a:solidFill>
                    <a:srgbClr val="7A7F8E"/>
                  </a:solidFill>
                  <a:latin typeface="Lato"/>
                  <a:ea typeface="Lato"/>
                  <a:cs typeface="Lato"/>
                  <a:sym typeface="Lato"/>
                </a:rPr>
                <a:t>Ashton et al.</a:t>
              </a:r>
              <a:r>
                <a:rPr i="1" lang="en" sz="750">
                  <a:solidFill>
                    <a:srgbClr val="7A7F8E"/>
                  </a:solidFill>
                  <a:latin typeface="Lato"/>
                  <a:ea typeface="Lato"/>
                  <a:cs typeface="Lato"/>
                  <a:sym typeface="Lato"/>
                </a:rPr>
                <a:t> (</a:t>
              </a:r>
              <a:r>
                <a:rPr b="0" i="1" lang="en" sz="750" u="sng" cap="none" strike="noStrike">
                  <a:solidFill>
                    <a:srgbClr val="980053"/>
                  </a:solidFill>
                  <a:latin typeface="Lato"/>
                  <a:ea typeface="Lato"/>
                  <a:cs typeface="Lato"/>
                  <a:sym typeface="Lato"/>
                  <a:hlinkClick r:id="rId6">
                    <a:extLst>
                      <a:ext uri="{A12FA001-AC4F-418D-AE19-62706E023703}">
                        <ahyp:hlinkClr val="tx"/>
                      </a:ext>
                    </a:extLst>
                  </a:hlinkClick>
                </a:rPr>
                <a:t>arXiv:2408.11969</a:t>
              </a:r>
              <a:r>
                <a:rPr b="0" i="1" lang="en" sz="750" u="none" cap="none" strike="noStrike">
                  <a:solidFill>
                    <a:srgbClr val="7A7F8E"/>
                  </a:solidFill>
                  <a:latin typeface="Lato"/>
                  <a:ea typeface="Lato"/>
                  <a:cs typeface="Lato"/>
                  <a:sym typeface="Lato"/>
                </a:rPr>
                <a:t>)</a:t>
              </a:r>
              <a:endParaRPr b="0" i="0" sz="750" u="none" cap="none" strike="noStrike">
                <a:solidFill>
                  <a:srgbClr val="000000"/>
                </a:solidFill>
                <a:latin typeface="Calibri"/>
                <a:ea typeface="Calibri"/>
                <a:cs typeface="Calibri"/>
                <a:sym typeface="Calibri"/>
              </a:endParaRPr>
            </a:p>
          </p:txBody>
        </p:sp>
      </p:grpSp>
      <p:pic>
        <p:nvPicPr>
          <p:cNvPr id="275" name="Google Shape;275;p30" title="D3A_logo_SORT.png"/>
          <p:cNvPicPr preferRelativeResize="0"/>
          <p:nvPr/>
        </p:nvPicPr>
        <p:blipFill>
          <a:blip r:embed="rId7">
            <a:alphaModFix/>
          </a:blip>
          <a:stretch>
            <a:fillRect/>
          </a:stretch>
        </p:blipFill>
        <p:spPr>
          <a:xfrm>
            <a:off x="307250" y="4739650"/>
            <a:ext cx="406753" cy="22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31"/>
          <p:cNvSpPr/>
          <p:nvPr/>
        </p:nvSpPr>
        <p:spPr>
          <a:xfrm>
            <a:off x="411475" y="228600"/>
            <a:ext cx="84855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Graph networks see the neighbours, transformers see the big picture</a:t>
            </a:r>
            <a:endParaRPr i="0" sz="2100" u="none" cap="none" strike="noStrike">
              <a:solidFill>
                <a:schemeClr val="dk1"/>
              </a:solidFill>
              <a:latin typeface="Ubuntu Light"/>
              <a:ea typeface="Ubuntu Light"/>
              <a:cs typeface="Ubuntu Light"/>
              <a:sym typeface="Ubuntu Light"/>
            </a:endParaRPr>
          </a:p>
        </p:txBody>
      </p:sp>
      <p:pic>
        <p:nvPicPr>
          <p:cNvPr descr="preencoded.png" id="282" name="Google Shape;282;p31"/>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graphicFrame>
        <p:nvGraphicFramePr>
          <p:cNvPr id="283" name="Google Shape;283;p31"/>
          <p:cNvGraphicFramePr/>
          <p:nvPr/>
        </p:nvGraphicFramePr>
        <p:xfrm>
          <a:off x="411475" y="985490"/>
          <a:ext cx="3000000" cy="3000000"/>
        </p:xfrm>
        <a:graphic>
          <a:graphicData uri="http://schemas.openxmlformats.org/drawingml/2006/table">
            <a:tbl>
              <a:tblPr>
                <a:noFill/>
                <a:tableStyleId>{8E76B2B0-73CC-48BB-86DB-68C2D3C3028D}</a:tableStyleId>
              </a:tblPr>
              <a:tblGrid>
                <a:gridCol w="3810850"/>
                <a:gridCol w="3912475"/>
              </a:tblGrid>
              <a:tr h="174950">
                <a:tc>
                  <a:txBody>
                    <a:bodyPr/>
                    <a:lstStyle/>
                    <a:p>
                      <a:pPr indent="0" lvl="0" marL="0" rtl="0" algn="ctr">
                        <a:spcBef>
                          <a:spcPts val="0"/>
                        </a:spcBef>
                        <a:spcAft>
                          <a:spcPts val="0"/>
                        </a:spcAft>
                        <a:buNone/>
                      </a:pPr>
                      <a:r>
                        <a:rPr lang="en" sz="1000">
                          <a:latin typeface="Lato"/>
                          <a:ea typeface="Lato"/>
                          <a:cs typeface="Lato"/>
                          <a:sym typeface="Lato"/>
                        </a:rPr>
                        <a:t>Local: MeshGraphNet (MGN)</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Global: latent-token transformers</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r>
              <a:tr h="487175">
                <a:tc>
                  <a:txBody>
                    <a:bodyPr/>
                    <a:lstStyle/>
                    <a:p>
                      <a:pPr indent="0" lvl="0" marL="0" rtl="0" algn="ctr">
                        <a:spcBef>
                          <a:spcPts val="0"/>
                        </a:spcBef>
                        <a:spcAft>
                          <a:spcPts val="0"/>
                        </a:spcAft>
                        <a:buNone/>
                      </a:pPr>
                      <a:r>
                        <a:rPr lang="en" sz="1000">
                          <a:latin typeface="Lato Light"/>
                          <a:ea typeface="Lato Light"/>
                          <a:cs typeface="Lato Light"/>
                          <a:sym typeface="Lato Light"/>
                        </a:rPr>
                        <a:t>Mesh = graph; message passing along edges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Compress N mesh points into L ≪ N latent tokens, process them, write back</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Light"/>
                          <a:ea typeface="Lato Light"/>
                          <a:cs typeface="Lato Light"/>
                          <a:sym typeface="Lato Light"/>
                        </a:rPr>
                        <a:t>Physics in the architecture: locality, permutation invariance, relative coordinates (a learned stencil)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Transolver, Perceiver/UPT, Surya</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Light"/>
                          <a:ea typeface="Lato Light"/>
                          <a:cs typeface="Lato Light"/>
                          <a:sym typeface="Lato Light"/>
                        </a:rPr>
                        <a:t>✔ Sharp local detail</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 Global reach in one layer</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334925">
                <a:tc>
                  <a:txBody>
                    <a:bodyPr/>
                    <a:lstStyle/>
                    <a:p>
                      <a:pPr indent="0" lvl="0" marL="0" rtl="0" algn="ctr">
                        <a:spcBef>
                          <a:spcPts val="0"/>
                        </a:spcBef>
                        <a:spcAft>
                          <a:spcPts val="0"/>
                        </a:spcAft>
                        <a:buNone/>
                      </a:pPr>
                      <a:r>
                        <a:rPr lang="en" sz="1000">
                          <a:latin typeface="Lato Light"/>
                          <a:ea typeface="Lato Light"/>
                          <a:cs typeface="Lato Light"/>
                          <a:sym typeface="Lato Light"/>
                        </a:rPr>
                        <a:t>✘ Information moves one hop per layer</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Light"/>
                          <a:ea typeface="Lato Light"/>
                          <a:cs typeface="Lato Light"/>
                          <a:sym typeface="Lato Light"/>
                        </a:rPr>
                        <a:t>✘ Behaves like a low-pass filter: smooths fine scales</a:t>
                      </a:r>
                      <a:endParaRPr sz="10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bl>
          </a:graphicData>
        </a:graphic>
      </p:graphicFrame>
      <p:pic>
        <p:nvPicPr>
          <p:cNvPr id="284" name="Google Shape;284;p31" title="m1_regimes_v2.png"/>
          <p:cNvPicPr preferRelativeResize="0"/>
          <p:nvPr/>
        </p:nvPicPr>
        <p:blipFill rotWithShape="1">
          <a:blip r:embed="rId4">
            <a:alphaModFix/>
          </a:blip>
          <a:srcRect b="60446" l="0" r="57311" t="0"/>
          <a:stretch/>
        </p:blipFill>
        <p:spPr>
          <a:xfrm>
            <a:off x="705125" y="3222038"/>
            <a:ext cx="2899174" cy="1511001"/>
          </a:xfrm>
          <a:prstGeom prst="rect">
            <a:avLst/>
          </a:prstGeom>
          <a:noFill/>
          <a:ln>
            <a:noFill/>
          </a:ln>
        </p:spPr>
      </p:pic>
      <p:pic>
        <p:nvPicPr>
          <p:cNvPr id="285" name="Google Shape;285;p31" title="m1_regimes_v2.png"/>
          <p:cNvPicPr preferRelativeResize="0"/>
          <p:nvPr/>
        </p:nvPicPr>
        <p:blipFill rotWithShape="1">
          <a:blip r:embed="rId4">
            <a:alphaModFix/>
          </a:blip>
          <a:srcRect b="60751" l="54638" r="2672" t="-305"/>
          <a:stretch/>
        </p:blipFill>
        <p:spPr>
          <a:xfrm>
            <a:off x="4909075" y="3243900"/>
            <a:ext cx="2815165" cy="1467274"/>
          </a:xfrm>
          <a:prstGeom prst="rect">
            <a:avLst/>
          </a:prstGeom>
          <a:noFill/>
          <a:ln>
            <a:noFill/>
          </a:ln>
        </p:spPr>
      </p:pic>
      <p:sp>
        <p:nvSpPr>
          <p:cNvPr id="286" name="Google Shape;286;p31"/>
          <p:cNvSpPr/>
          <p:nvPr/>
        </p:nvSpPr>
        <p:spPr>
          <a:xfrm>
            <a:off x="236625" y="1373900"/>
            <a:ext cx="3946200" cy="33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1"/>
          <p:cNvSpPr/>
          <p:nvPr/>
        </p:nvSpPr>
        <p:spPr>
          <a:xfrm>
            <a:off x="4213963" y="1373900"/>
            <a:ext cx="4205400" cy="33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8" name="Google Shape;288;p31" title="D3A_logo_SORT.png"/>
          <p:cNvPicPr preferRelativeResize="0"/>
          <p:nvPr/>
        </p:nvPicPr>
        <p:blipFill>
          <a:blip r:embed="rId5">
            <a:alphaModFix/>
          </a:blip>
          <a:stretch>
            <a:fillRect/>
          </a:stretch>
        </p:blipFill>
        <p:spPr>
          <a:xfrm>
            <a:off x="307250" y="4739650"/>
            <a:ext cx="406753" cy="22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2"/>
          <p:cNvSpPr txBox="1"/>
          <p:nvPr/>
        </p:nvSpPr>
        <p:spPr>
          <a:xfrm>
            <a:off x="313725" y="251375"/>
            <a:ext cx="8129700" cy="5727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lang="en" sz="2100">
                <a:solidFill>
                  <a:srgbClr val="BA1E81"/>
                </a:solidFill>
                <a:latin typeface="Ubuntu Light"/>
                <a:ea typeface="Ubuntu Light"/>
                <a:cs typeface="Ubuntu Light"/>
                <a:sym typeface="Ubuntu Light"/>
              </a:rPr>
              <a:t>Read-Write-Relax (RWR), a neural PDE surrogate with local AND global processing </a:t>
            </a:r>
            <a:endParaRPr sz="2100">
              <a:solidFill>
                <a:srgbClr val="BA1E81"/>
              </a:solidFill>
              <a:latin typeface="Ubuntu Light"/>
              <a:ea typeface="Ubuntu Light"/>
              <a:cs typeface="Ubuntu Light"/>
              <a:sym typeface="Ubuntu Light"/>
            </a:endParaRPr>
          </a:p>
        </p:txBody>
      </p:sp>
      <p:sp>
        <p:nvSpPr>
          <p:cNvPr id="294" name="Google Shape;294;p32"/>
          <p:cNvSpPr/>
          <p:nvPr/>
        </p:nvSpPr>
        <p:spPr>
          <a:xfrm>
            <a:off x="422858" y="4910389"/>
            <a:ext cx="8298300" cy="23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2"/>
              </a:buClr>
              <a:buSzPts val="900"/>
              <a:buFont typeface="Calibri"/>
              <a:buNone/>
            </a:pPr>
            <a:r>
              <a:rPr i="1" lang="en" sz="900">
                <a:solidFill>
                  <a:srgbClr val="5B6472"/>
                </a:solidFill>
                <a:latin typeface="Calibri"/>
                <a:ea typeface="Calibri"/>
                <a:cs typeface="Calibri"/>
                <a:sym typeface="Calibri"/>
              </a:rPr>
              <a:t>Kumar, Zimmermann, Bjorgaard, Chaplais, Bouklas, Salvador, Lavin (</a:t>
            </a:r>
            <a:r>
              <a:rPr i="1" lang="en" sz="900" u="sng">
                <a:solidFill>
                  <a:schemeClr val="hlink"/>
                </a:solidFill>
                <a:latin typeface="Calibri"/>
                <a:ea typeface="Calibri"/>
                <a:cs typeface="Calibri"/>
                <a:sym typeface="Calibri"/>
                <a:hlinkClick r:id="rId3"/>
              </a:rPr>
              <a:t>arXiv:2608.21677</a:t>
            </a:r>
            <a:r>
              <a:rPr i="1" lang="en" sz="900">
                <a:solidFill>
                  <a:srgbClr val="5B6472"/>
                </a:solidFill>
                <a:latin typeface="Calibri"/>
                <a:ea typeface="Calibri"/>
                <a:cs typeface="Calibri"/>
                <a:sym typeface="Calibri"/>
              </a:rPr>
              <a:t>)</a:t>
            </a:r>
            <a:endParaRPr sz="900">
              <a:solidFill>
                <a:schemeClr val="dk1"/>
              </a:solidFill>
              <a:latin typeface="Calibri"/>
              <a:ea typeface="Calibri"/>
              <a:cs typeface="Calibri"/>
              <a:sym typeface="Calibri"/>
            </a:endParaRPr>
          </a:p>
        </p:txBody>
      </p:sp>
      <p:sp>
        <p:nvSpPr>
          <p:cNvPr id="295" name="Google Shape;295;p32"/>
          <p:cNvSpPr/>
          <p:nvPr/>
        </p:nvSpPr>
        <p:spPr>
          <a:xfrm>
            <a:off x="422850" y="1021693"/>
            <a:ext cx="7332000" cy="572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1100"/>
              </a:spcBef>
              <a:spcAft>
                <a:spcPts val="0"/>
              </a:spcAft>
              <a:buNone/>
            </a:pPr>
            <a:r>
              <a:rPr lang="en" sz="1200">
                <a:solidFill>
                  <a:srgbClr val="141A3A"/>
                </a:solidFill>
                <a:latin typeface="Lato Light"/>
                <a:ea typeface="Lato Light"/>
                <a:cs typeface="Lato Light"/>
                <a:sym typeface="Lato Light"/>
              </a:rPr>
              <a:t>RWR interleaves local and global processors similar to a multigrid cycle: one correcting low-frequency error, the other high-frequency error.</a:t>
            </a:r>
            <a:endParaRPr sz="1200">
              <a:solidFill>
                <a:schemeClr val="dk1"/>
              </a:solidFill>
              <a:latin typeface="Lato Light"/>
              <a:ea typeface="Lato Light"/>
              <a:cs typeface="Lato Light"/>
              <a:sym typeface="Lato Light"/>
            </a:endParaRPr>
          </a:p>
        </p:txBody>
      </p:sp>
      <p:pic>
        <p:nvPicPr>
          <p:cNvPr id="296" name="Google Shape;296;p32" title="m1_regimes_v2.png"/>
          <p:cNvPicPr preferRelativeResize="0"/>
          <p:nvPr/>
        </p:nvPicPr>
        <p:blipFill rotWithShape="1">
          <a:blip r:embed="rId4">
            <a:alphaModFix/>
          </a:blip>
          <a:srcRect b="60446" l="0" r="57311" t="0"/>
          <a:stretch/>
        </p:blipFill>
        <p:spPr>
          <a:xfrm>
            <a:off x="422850" y="1647680"/>
            <a:ext cx="1976223" cy="1029974"/>
          </a:xfrm>
          <a:prstGeom prst="rect">
            <a:avLst/>
          </a:prstGeom>
          <a:noFill/>
          <a:ln>
            <a:noFill/>
          </a:ln>
        </p:spPr>
      </p:pic>
      <p:pic>
        <p:nvPicPr>
          <p:cNvPr id="297" name="Google Shape;297;p32" title="m1_regimes_v2.png"/>
          <p:cNvPicPr preferRelativeResize="0"/>
          <p:nvPr/>
        </p:nvPicPr>
        <p:blipFill rotWithShape="1">
          <a:blip r:embed="rId4">
            <a:alphaModFix/>
          </a:blip>
          <a:srcRect b="60751" l="54638" r="2672" t="-305"/>
          <a:stretch/>
        </p:blipFill>
        <p:spPr>
          <a:xfrm>
            <a:off x="2567450" y="1609404"/>
            <a:ext cx="1976177" cy="1029974"/>
          </a:xfrm>
          <a:prstGeom prst="rect">
            <a:avLst/>
          </a:prstGeom>
          <a:noFill/>
          <a:ln>
            <a:noFill/>
          </a:ln>
        </p:spPr>
      </p:pic>
      <p:grpSp>
        <p:nvGrpSpPr>
          <p:cNvPr id="298" name="Google Shape;298;p32"/>
          <p:cNvGrpSpPr/>
          <p:nvPr/>
        </p:nvGrpSpPr>
        <p:grpSpPr>
          <a:xfrm>
            <a:off x="595126" y="3067857"/>
            <a:ext cx="3466176" cy="1143457"/>
            <a:chOff x="865325" y="3096083"/>
            <a:chExt cx="6454704" cy="1672455"/>
          </a:xfrm>
        </p:grpSpPr>
        <p:pic>
          <p:nvPicPr>
            <p:cNvPr id="299" name="Google Shape;299;p32" title="m1_regimes_v2.png"/>
            <p:cNvPicPr preferRelativeResize="0"/>
            <p:nvPr/>
          </p:nvPicPr>
          <p:blipFill rotWithShape="1">
            <a:blip r:embed="rId4">
              <a:alphaModFix/>
            </a:blip>
            <a:srcRect b="6516" l="0" r="0" t="60326"/>
            <a:stretch/>
          </p:blipFill>
          <p:spPr>
            <a:xfrm>
              <a:off x="865325" y="3343814"/>
              <a:ext cx="6237527" cy="1424724"/>
            </a:xfrm>
            <a:prstGeom prst="rect">
              <a:avLst/>
            </a:prstGeom>
            <a:noFill/>
            <a:ln>
              <a:noFill/>
            </a:ln>
          </p:spPr>
        </p:pic>
        <p:cxnSp>
          <p:nvCxnSpPr>
            <p:cNvPr id="300" name="Google Shape;300;p32"/>
            <p:cNvCxnSpPr/>
            <p:nvPr/>
          </p:nvCxnSpPr>
          <p:spPr>
            <a:xfrm flipH="1">
              <a:off x="2999232" y="3818453"/>
              <a:ext cx="483300" cy="227700"/>
            </a:xfrm>
            <a:prstGeom prst="straightConnector1">
              <a:avLst/>
            </a:prstGeom>
            <a:noFill/>
            <a:ln cap="flat" cmpd="sng" w="13050">
              <a:solidFill>
                <a:srgbClr val="BA1E81"/>
              </a:solidFill>
              <a:prstDash val="solid"/>
              <a:round/>
              <a:headEnd len="med" w="med" type="none"/>
              <a:tailEnd len="med" w="med" type="triangle"/>
            </a:ln>
          </p:spPr>
        </p:cxnSp>
        <p:cxnSp>
          <p:nvCxnSpPr>
            <p:cNvPr id="301" name="Google Shape;301;p32"/>
            <p:cNvCxnSpPr/>
            <p:nvPr/>
          </p:nvCxnSpPr>
          <p:spPr>
            <a:xfrm>
              <a:off x="4574997" y="3571832"/>
              <a:ext cx="778800" cy="401400"/>
            </a:xfrm>
            <a:prstGeom prst="straightConnector1">
              <a:avLst/>
            </a:prstGeom>
            <a:noFill/>
            <a:ln cap="flat" cmpd="sng" w="13050">
              <a:solidFill>
                <a:srgbClr val="8057FF"/>
              </a:solidFill>
              <a:prstDash val="solid"/>
              <a:round/>
              <a:headEnd len="med" w="med" type="none"/>
              <a:tailEnd len="med" w="med" type="triangle"/>
            </a:ln>
          </p:spPr>
        </p:cxnSp>
        <p:sp>
          <p:nvSpPr>
            <p:cNvPr id="302" name="Google Shape;302;p32"/>
            <p:cNvSpPr txBox="1"/>
            <p:nvPr/>
          </p:nvSpPr>
          <p:spPr>
            <a:xfrm>
              <a:off x="1629009" y="3603179"/>
              <a:ext cx="1711800" cy="338700"/>
            </a:xfrm>
            <a:prstGeom prst="rect">
              <a:avLst/>
            </a:prstGeom>
            <a:noFill/>
            <a:ln>
              <a:noFill/>
            </a:ln>
          </p:spPr>
          <p:txBody>
            <a:bodyPr anchorCtr="0" anchor="t" bIns="62500" lIns="62500" spcFirstLastPara="1" rIns="62500" wrap="square" tIns="62500">
              <a:spAutoFit/>
            </a:bodyPr>
            <a:lstStyle/>
            <a:p>
              <a:pPr indent="0" lvl="0" marL="0" rtl="0" algn="l">
                <a:spcBef>
                  <a:spcPts val="0"/>
                </a:spcBef>
                <a:spcAft>
                  <a:spcPts val="0"/>
                </a:spcAft>
                <a:buNone/>
              </a:pPr>
              <a:r>
                <a:rPr lang="en" sz="684">
                  <a:solidFill>
                    <a:srgbClr val="BA1E81"/>
                  </a:solidFill>
                  <a:latin typeface="Lato Light"/>
                  <a:ea typeface="Lato Light"/>
                  <a:cs typeface="Lato Light"/>
                  <a:sym typeface="Lato Light"/>
                </a:rPr>
                <a:t>message passing sees</a:t>
              </a:r>
              <a:endParaRPr sz="684">
                <a:solidFill>
                  <a:srgbClr val="BA1E81"/>
                </a:solidFill>
                <a:latin typeface="Lato Light"/>
                <a:ea typeface="Lato Light"/>
                <a:cs typeface="Lato Light"/>
                <a:sym typeface="Lato Light"/>
              </a:endParaRPr>
            </a:p>
          </p:txBody>
        </p:sp>
        <p:sp>
          <p:nvSpPr>
            <p:cNvPr id="303" name="Google Shape;303;p32"/>
            <p:cNvSpPr txBox="1"/>
            <p:nvPr/>
          </p:nvSpPr>
          <p:spPr>
            <a:xfrm>
              <a:off x="5157329" y="3603192"/>
              <a:ext cx="2162700" cy="338700"/>
            </a:xfrm>
            <a:prstGeom prst="rect">
              <a:avLst/>
            </a:prstGeom>
            <a:noFill/>
            <a:ln>
              <a:noFill/>
            </a:ln>
          </p:spPr>
          <p:txBody>
            <a:bodyPr anchorCtr="0" anchor="t" bIns="62500" lIns="62500" spcFirstLastPara="1" rIns="62500" wrap="square" tIns="62500">
              <a:spAutoFit/>
            </a:bodyPr>
            <a:lstStyle/>
            <a:p>
              <a:pPr indent="0" lvl="0" marL="0" rtl="0" algn="l">
                <a:spcBef>
                  <a:spcPts val="0"/>
                </a:spcBef>
                <a:spcAft>
                  <a:spcPts val="0"/>
                </a:spcAft>
                <a:buNone/>
              </a:pPr>
              <a:r>
                <a:rPr lang="en" sz="684">
                  <a:solidFill>
                    <a:srgbClr val="8057FF"/>
                  </a:solidFill>
                  <a:latin typeface="Lato Light"/>
                  <a:ea typeface="Lato Light"/>
                  <a:cs typeface="Lato Light"/>
                  <a:sym typeface="Lato Light"/>
                </a:rPr>
                <a:t>latent attention returns</a:t>
              </a:r>
              <a:endParaRPr sz="684">
                <a:solidFill>
                  <a:srgbClr val="8057FF"/>
                </a:solidFill>
                <a:latin typeface="Lato Light"/>
                <a:ea typeface="Lato Light"/>
                <a:cs typeface="Lato Light"/>
                <a:sym typeface="Lato Light"/>
              </a:endParaRPr>
            </a:p>
          </p:txBody>
        </p:sp>
        <p:sp>
          <p:nvSpPr>
            <p:cNvPr id="304" name="Google Shape;304;p32"/>
            <p:cNvSpPr txBox="1"/>
            <p:nvPr/>
          </p:nvSpPr>
          <p:spPr>
            <a:xfrm>
              <a:off x="2822890" y="3096083"/>
              <a:ext cx="3755100" cy="360300"/>
            </a:xfrm>
            <a:prstGeom prst="rect">
              <a:avLst/>
            </a:prstGeom>
            <a:noFill/>
            <a:ln>
              <a:noFill/>
            </a:ln>
          </p:spPr>
          <p:txBody>
            <a:bodyPr anchorCtr="0" anchor="t" bIns="62500" lIns="62500" spcFirstLastPara="1" rIns="62500" wrap="square" tIns="62500">
              <a:spAutoFit/>
            </a:bodyPr>
            <a:lstStyle/>
            <a:p>
              <a:pPr indent="0" lvl="0" marL="0" rtl="0" algn="l">
                <a:spcBef>
                  <a:spcPts val="0"/>
                </a:spcBef>
                <a:spcAft>
                  <a:spcPts val="0"/>
                </a:spcAft>
                <a:buNone/>
              </a:pPr>
              <a:r>
                <a:rPr i="1" lang="en" sz="780">
                  <a:solidFill>
                    <a:schemeClr val="dk2"/>
                  </a:solidFill>
                  <a:latin typeface="Lato Light"/>
                  <a:ea typeface="Lato Light"/>
                  <a:cs typeface="Lato Light"/>
                  <a:sym typeface="Lato Light"/>
                </a:rPr>
                <a:t>the field a surrogate has to produce</a:t>
              </a:r>
              <a:endParaRPr i="1" sz="780">
                <a:solidFill>
                  <a:schemeClr val="dk2"/>
                </a:solidFill>
                <a:latin typeface="Lato Light"/>
                <a:ea typeface="Lato Light"/>
                <a:cs typeface="Lato Light"/>
                <a:sym typeface="Lato Light"/>
              </a:endParaRPr>
            </a:p>
          </p:txBody>
        </p:sp>
      </p:grpSp>
      <p:sp>
        <p:nvSpPr>
          <p:cNvPr id="305" name="Google Shape;305;p32"/>
          <p:cNvSpPr txBox="1"/>
          <p:nvPr/>
        </p:nvSpPr>
        <p:spPr>
          <a:xfrm>
            <a:off x="729413" y="4330718"/>
            <a:ext cx="1574100" cy="151200"/>
          </a:xfrm>
          <a:prstGeom prst="rect">
            <a:avLst/>
          </a:prstGeom>
          <a:solidFill>
            <a:schemeClr val="lt1"/>
          </a:solidFill>
          <a:ln>
            <a:noFill/>
          </a:ln>
        </p:spPr>
        <p:txBody>
          <a:bodyPr anchorCtr="0" anchor="t" bIns="56100" lIns="56100" spcFirstLastPara="1" rIns="56100" wrap="square" tIns="0">
            <a:spAutoFit/>
          </a:bodyPr>
          <a:lstStyle/>
          <a:p>
            <a:pPr indent="0" lvl="0" marL="0" rtl="0" algn="l">
              <a:spcBef>
                <a:spcPts val="0"/>
              </a:spcBef>
              <a:spcAft>
                <a:spcPts val="0"/>
              </a:spcAft>
              <a:buNone/>
            </a:pPr>
            <a:r>
              <a:rPr lang="en" sz="614">
                <a:solidFill>
                  <a:srgbClr val="BA1E81"/>
                </a:solidFill>
                <a:latin typeface="Lato Light"/>
                <a:ea typeface="Lato Light"/>
                <a:cs typeface="Lato Light"/>
                <a:sym typeface="Lato Light"/>
              </a:rPr>
              <a:t>sharp, but only within its reach</a:t>
            </a:r>
            <a:endParaRPr sz="614">
              <a:solidFill>
                <a:srgbClr val="BA1E81"/>
              </a:solidFill>
              <a:latin typeface="Lato Light"/>
              <a:ea typeface="Lato Light"/>
              <a:cs typeface="Lato Light"/>
              <a:sym typeface="Lato Light"/>
            </a:endParaRPr>
          </a:p>
        </p:txBody>
      </p:sp>
      <p:sp>
        <p:nvSpPr>
          <p:cNvPr id="306" name="Google Shape;306;p32"/>
          <p:cNvSpPr txBox="1"/>
          <p:nvPr/>
        </p:nvSpPr>
        <p:spPr>
          <a:xfrm>
            <a:off x="2491020" y="4330718"/>
            <a:ext cx="1837800" cy="151200"/>
          </a:xfrm>
          <a:prstGeom prst="rect">
            <a:avLst/>
          </a:prstGeom>
          <a:solidFill>
            <a:schemeClr val="lt1"/>
          </a:solidFill>
          <a:ln>
            <a:noFill/>
          </a:ln>
        </p:spPr>
        <p:txBody>
          <a:bodyPr anchorCtr="0" anchor="t" bIns="56100" lIns="56100" spcFirstLastPara="1" rIns="56100" wrap="square" tIns="0">
            <a:spAutoFit/>
          </a:bodyPr>
          <a:lstStyle/>
          <a:p>
            <a:pPr indent="0" lvl="0" marL="0" rtl="0" algn="l">
              <a:spcBef>
                <a:spcPts val="0"/>
              </a:spcBef>
              <a:spcAft>
                <a:spcPts val="0"/>
              </a:spcAft>
              <a:buNone/>
            </a:pPr>
            <a:r>
              <a:rPr lang="en" sz="614">
                <a:solidFill>
                  <a:srgbClr val="8057FF"/>
                </a:solidFill>
                <a:latin typeface="Lato Light"/>
                <a:ea typeface="Lato Light"/>
                <a:cs typeface="Lato Light"/>
                <a:sym typeface="Lato Light"/>
              </a:rPr>
              <a:t>the whole domain, but peaks averaged away</a:t>
            </a:r>
            <a:endParaRPr sz="614">
              <a:solidFill>
                <a:srgbClr val="8057FF"/>
              </a:solidFill>
              <a:latin typeface="Lato Light"/>
              <a:ea typeface="Lato Light"/>
              <a:cs typeface="Lato Light"/>
              <a:sym typeface="Lato Light"/>
            </a:endParaRPr>
          </a:p>
        </p:txBody>
      </p:sp>
      <p:pic>
        <p:nvPicPr>
          <p:cNvPr descr="preencoded.png" id="307" name="Google Shape;307;p32"/>
          <p:cNvPicPr preferRelativeResize="0"/>
          <p:nvPr/>
        </p:nvPicPr>
        <p:blipFill rotWithShape="1">
          <a:blip r:embed="rId5">
            <a:alphaModFix/>
          </a:blip>
          <a:srcRect b="0" l="0" r="0" t="0"/>
          <a:stretch/>
        </p:blipFill>
        <p:spPr>
          <a:xfrm>
            <a:off x="7662672" y="4773168"/>
            <a:ext cx="1234440" cy="228600"/>
          </a:xfrm>
          <a:prstGeom prst="rect">
            <a:avLst/>
          </a:prstGeom>
          <a:noFill/>
          <a:ln>
            <a:noFill/>
          </a:ln>
        </p:spPr>
      </p:pic>
      <p:pic>
        <p:nvPicPr>
          <p:cNvPr id="308" name="Google Shape;308;p32" title="RWR.png"/>
          <p:cNvPicPr preferRelativeResize="0"/>
          <p:nvPr/>
        </p:nvPicPr>
        <p:blipFill>
          <a:blip r:embed="rId6">
            <a:alphaModFix/>
          </a:blip>
          <a:stretch>
            <a:fillRect/>
          </a:stretch>
        </p:blipFill>
        <p:spPr>
          <a:xfrm>
            <a:off x="4805775" y="2127075"/>
            <a:ext cx="3854174" cy="1957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33"/>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Can a surrogate stand in for CFD in a car-aero design loop?</a:t>
            </a:r>
            <a:endParaRPr i="0" sz="2100" u="none" cap="none" strike="noStrike">
              <a:solidFill>
                <a:schemeClr val="dk1"/>
              </a:solidFill>
              <a:latin typeface="Ubuntu Light"/>
              <a:ea typeface="Ubuntu Light"/>
              <a:cs typeface="Ubuntu Light"/>
              <a:sym typeface="Ubuntu Light"/>
            </a:endParaRPr>
          </a:p>
        </p:txBody>
      </p:sp>
      <p:pic>
        <p:nvPicPr>
          <p:cNvPr descr="preencoded.png" id="315" name="Google Shape;315;p33"/>
          <p:cNvPicPr preferRelativeResize="0"/>
          <p:nvPr/>
        </p:nvPicPr>
        <p:blipFill rotWithShape="1">
          <a:blip r:embed="rId3">
            <a:alphaModFix/>
          </a:blip>
          <a:srcRect b="0" l="0" r="0" t="0"/>
          <a:stretch/>
        </p:blipFill>
        <p:spPr>
          <a:xfrm>
            <a:off x="7662672" y="4773168"/>
            <a:ext cx="1234440" cy="228600"/>
          </a:xfrm>
          <a:prstGeom prst="rect">
            <a:avLst/>
          </a:prstGeom>
          <a:noFill/>
          <a:ln>
            <a:noFill/>
          </a:ln>
        </p:spPr>
      </p:pic>
      <p:sp>
        <p:nvSpPr>
          <p:cNvPr id="316" name="Google Shape;316;p33"/>
          <p:cNvSpPr/>
          <p:nvPr/>
        </p:nvSpPr>
        <p:spPr>
          <a:xfrm>
            <a:off x="411475" y="861200"/>
            <a:ext cx="8412600" cy="6084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6B7280"/>
              </a:buClr>
              <a:buSzPts val="1100"/>
              <a:buFont typeface="Lato"/>
              <a:buNone/>
            </a:pPr>
            <a:r>
              <a:rPr lang="en" sz="1200">
                <a:solidFill>
                  <a:srgbClr val="262626"/>
                </a:solidFill>
                <a:latin typeface="Lato Light"/>
                <a:ea typeface="Lato Light"/>
                <a:cs typeface="Lato Light"/>
                <a:sym typeface="Lato Light"/>
              </a:rPr>
              <a:t>The Read-Write-Relax (RWR) surrogate was trained on the DrivAerML dataset containing ~500 morphed variants of the DrivAer car </a:t>
            </a:r>
            <a:r>
              <a:rPr lang="en" sz="1200">
                <a:solidFill>
                  <a:srgbClr val="262626"/>
                </a:solidFill>
                <a:latin typeface="Lato Light"/>
                <a:ea typeface="Lato Light"/>
                <a:cs typeface="Lato Light"/>
                <a:sym typeface="Lato Light"/>
              </a:rPr>
              <a:t>(Ashton et al. 2024)</a:t>
            </a:r>
            <a:endParaRPr sz="1000">
              <a:solidFill>
                <a:srgbClr val="262626"/>
              </a:solidFill>
              <a:latin typeface="Lato Light"/>
              <a:ea typeface="Lato Light"/>
              <a:cs typeface="Lato Light"/>
              <a:sym typeface="Lato Light"/>
            </a:endParaRPr>
          </a:p>
          <a:p>
            <a:pPr indent="0" lvl="0" marL="0" marR="0" rtl="0" algn="l">
              <a:lnSpc>
                <a:spcPct val="150000"/>
              </a:lnSpc>
              <a:spcBef>
                <a:spcPts val="0"/>
              </a:spcBef>
              <a:spcAft>
                <a:spcPts val="0"/>
              </a:spcAft>
              <a:buClr>
                <a:srgbClr val="6B7280"/>
              </a:buClr>
              <a:buSzPts val="1100"/>
              <a:buFont typeface="Lato"/>
              <a:buNone/>
            </a:pPr>
            <a:r>
              <a:t/>
            </a:r>
            <a:endParaRPr sz="1200">
              <a:solidFill>
                <a:srgbClr val="262626"/>
              </a:solidFill>
              <a:latin typeface="Lato Light"/>
              <a:ea typeface="Lato Light"/>
              <a:cs typeface="Lato Light"/>
              <a:sym typeface="Lato Light"/>
            </a:endParaRPr>
          </a:p>
        </p:txBody>
      </p:sp>
      <p:graphicFrame>
        <p:nvGraphicFramePr>
          <p:cNvPr id="317" name="Google Shape;317;p33"/>
          <p:cNvGraphicFramePr/>
          <p:nvPr/>
        </p:nvGraphicFramePr>
        <p:xfrm>
          <a:off x="483750" y="1337688"/>
          <a:ext cx="3000000" cy="3000000"/>
        </p:xfrm>
        <a:graphic>
          <a:graphicData uri="http://schemas.openxmlformats.org/drawingml/2006/table">
            <a:tbl>
              <a:tblPr>
                <a:noFill/>
                <a:tableStyleId>{8E76B2B0-73CC-48BB-86DB-68C2D3C3028D}</a:tableStyleId>
              </a:tblPr>
              <a:tblGrid>
                <a:gridCol w="1253475"/>
                <a:gridCol w="2797600"/>
                <a:gridCol w="2872225"/>
              </a:tblGrid>
              <a:tr h="281825">
                <a:tc>
                  <a:txBody>
                    <a:bodyPr/>
                    <a:lstStyle/>
                    <a:p>
                      <a:pPr indent="0" lvl="0" marL="0" rtl="0" algn="ctr">
                        <a:spcBef>
                          <a:spcPts val="0"/>
                        </a:spcBef>
                        <a:spcAft>
                          <a:spcPts val="0"/>
                        </a:spcAft>
                        <a:buNone/>
                      </a:pPr>
                      <a:r>
                        <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Question</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Lato"/>
                          <a:ea typeface="Lato"/>
                          <a:cs typeface="Lato"/>
                          <a:sym typeface="Lato"/>
                        </a:rPr>
                        <a:t>Why it matters</a:t>
                      </a:r>
                      <a:endParaRPr sz="10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alpha val="0"/>
                        </a:srgbClr>
                      </a:solidFill>
                      <a:prstDash val="solid"/>
                      <a:round/>
                      <a:headEnd len="sm" w="sm" type="none"/>
                      <a:tailEnd len="sm" w="sm" type="none"/>
                    </a:lnT>
                    <a:lnB cap="flat" cmpd="sng" w="9525">
                      <a:solidFill>
                        <a:srgbClr val="E2E4ED"/>
                      </a:solidFill>
                      <a:prstDash val="solid"/>
                      <a:round/>
                      <a:headEnd len="sm" w="sm" type="none"/>
                      <a:tailEnd len="sm" w="sm" type="none"/>
                    </a:lnB>
                  </a:tcPr>
                </a:tc>
              </a:tr>
              <a:tr h="281825">
                <a:tc>
                  <a:txBody>
                    <a:bodyPr/>
                    <a:lstStyle/>
                    <a:p>
                      <a:pPr indent="0" lvl="0" marL="0" rtl="0" algn="ctr">
                        <a:spcBef>
                          <a:spcPts val="0"/>
                        </a:spcBef>
                        <a:spcAft>
                          <a:spcPts val="0"/>
                        </a:spcAft>
                        <a:buNone/>
                      </a:pPr>
                      <a:r>
                        <a:rPr lang="en" sz="900">
                          <a:solidFill>
                            <a:schemeClr val="dk1"/>
                          </a:solidFill>
                          <a:latin typeface="Lato"/>
                          <a:ea typeface="Lato"/>
                          <a:cs typeface="Lato"/>
                          <a:sym typeface="Lato"/>
                        </a:rPr>
                        <a:t>Fields</a:t>
                      </a:r>
                      <a:endParaRPr sz="9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Lato Light"/>
                          <a:ea typeface="Lato Light"/>
                          <a:cs typeface="Lato Light"/>
                          <a:sym typeface="Lato Light"/>
                        </a:rPr>
                        <a:t> Are the surface fields right everywhere?</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900">
                          <a:latin typeface="Lato Light"/>
                          <a:ea typeface="Lato Light"/>
                          <a:cs typeface="Lato Light"/>
                          <a:sym typeface="Lato Light"/>
                        </a:rPr>
                        <a:t> Surface pressure produces most of the force</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281825">
                <a:tc>
                  <a:txBody>
                    <a:bodyPr/>
                    <a:lstStyle/>
                    <a:p>
                      <a:pPr indent="0" lvl="0" marL="0" rtl="0" algn="ctr">
                        <a:spcBef>
                          <a:spcPts val="0"/>
                        </a:spcBef>
                        <a:spcAft>
                          <a:spcPts val="0"/>
                        </a:spcAft>
                        <a:buClr>
                          <a:schemeClr val="dk1"/>
                        </a:buClr>
                        <a:buSzPts val="1100"/>
                        <a:buFont typeface="Arial"/>
                        <a:buNone/>
                      </a:pPr>
                      <a:r>
                        <a:rPr lang="en" sz="900">
                          <a:solidFill>
                            <a:schemeClr val="dk1"/>
                          </a:solidFill>
                          <a:latin typeface="Lato"/>
                          <a:ea typeface="Lato"/>
                          <a:cs typeface="Lato"/>
                          <a:sym typeface="Lato"/>
                        </a:rPr>
                        <a:t>Profiles</a:t>
                      </a:r>
                      <a:endParaRPr sz="9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dk1"/>
                          </a:solidFill>
                          <a:latin typeface="Lato Light"/>
                          <a:ea typeface="Lato Light"/>
                          <a:cs typeface="Lato Light"/>
                          <a:sym typeface="Lato Light"/>
                        </a:rPr>
                        <a:t>Is C</a:t>
                      </a:r>
                      <a:r>
                        <a:rPr baseline="-25000" lang="en" sz="900">
                          <a:solidFill>
                            <a:schemeClr val="dk1"/>
                          </a:solidFill>
                          <a:latin typeface="Lato Light"/>
                          <a:ea typeface="Lato Light"/>
                          <a:cs typeface="Lato Light"/>
                          <a:sym typeface="Lato Light"/>
                        </a:rPr>
                        <a:t>p</a:t>
                      </a:r>
                      <a:r>
                        <a:rPr lang="en" sz="900">
                          <a:solidFill>
                            <a:schemeClr val="dk1"/>
                          </a:solidFill>
                          <a:latin typeface="Lato Light"/>
                          <a:ea typeface="Lato Light"/>
                          <a:cs typeface="Lato Light"/>
                          <a:sym typeface="Lato Light"/>
                        </a:rPr>
                        <a:t> right along body sections?</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None/>
                      </a:pPr>
                      <a:r>
                        <a:rPr lang="en" sz="900">
                          <a:solidFill>
                            <a:schemeClr val="dk1"/>
                          </a:solidFill>
                          <a:latin typeface="Lato Light"/>
                          <a:ea typeface="Lato Light"/>
                          <a:cs typeface="Lato Light"/>
                          <a:sym typeface="Lato Light"/>
                        </a:rPr>
                        <a:t>Comparable with wind-tunnel probes</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r h="281825">
                <a:tc>
                  <a:txBody>
                    <a:bodyPr/>
                    <a:lstStyle/>
                    <a:p>
                      <a:pPr indent="0" lvl="0" marL="0" rtl="0" algn="ctr">
                        <a:spcBef>
                          <a:spcPts val="0"/>
                        </a:spcBef>
                        <a:spcAft>
                          <a:spcPts val="0"/>
                        </a:spcAft>
                        <a:buNone/>
                      </a:pPr>
                      <a:r>
                        <a:rPr lang="en" sz="900">
                          <a:solidFill>
                            <a:schemeClr val="dk1"/>
                          </a:solidFill>
                          <a:latin typeface="Lato"/>
                          <a:ea typeface="Lato"/>
                          <a:cs typeface="Lato"/>
                          <a:sym typeface="Lato"/>
                        </a:rPr>
                        <a:t>Forces</a:t>
                      </a:r>
                      <a:endParaRPr sz="900">
                        <a:latin typeface="Lato"/>
                        <a:ea typeface="Lato"/>
                        <a:cs typeface="Lato"/>
                        <a:sym typeface="Lato"/>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900">
                          <a:solidFill>
                            <a:schemeClr val="dk1"/>
                          </a:solidFill>
                          <a:latin typeface="Lato Light"/>
                          <a:ea typeface="Lato Light"/>
                          <a:cs typeface="Lato Light"/>
                          <a:sym typeface="Lato Light"/>
                        </a:rPr>
                        <a:t>Do C</a:t>
                      </a:r>
                      <a:r>
                        <a:rPr baseline="-25000" lang="en" sz="900">
                          <a:solidFill>
                            <a:schemeClr val="dk1"/>
                          </a:solidFill>
                          <a:latin typeface="Lato Light"/>
                          <a:ea typeface="Lato Light"/>
                          <a:cs typeface="Lato Light"/>
                          <a:sym typeface="Lato Light"/>
                        </a:rPr>
                        <a:t>d</a:t>
                      </a:r>
                      <a:r>
                        <a:rPr lang="en" sz="900">
                          <a:solidFill>
                            <a:schemeClr val="dk1"/>
                          </a:solidFill>
                          <a:latin typeface="Lato Light"/>
                          <a:ea typeface="Lato Light"/>
                          <a:cs typeface="Lato Light"/>
                          <a:sym typeface="Lato Light"/>
                        </a:rPr>
                        <a:t>, C</a:t>
                      </a:r>
                      <a:r>
                        <a:rPr baseline="-25000" lang="en" sz="900">
                          <a:solidFill>
                            <a:schemeClr val="dk1"/>
                          </a:solidFill>
                          <a:latin typeface="Lato Light"/>
                          <a:ea typeface="Lato Light"/>
                          <a:cs typeface="Lato Light"/>
                          <a:sym typeface="Lato Light"/>
                        </a:rPr>
                        <a:t>l</a:t>
                      </a:r>
                      <a:r>
                        <a:rPr lang="en" sz="900">
                          <a:solidFill>
                            <a:schemeClr val="dk1"/>
                          </a:solidFill>
                          <a:latin typeface="Lato Light"/>
                          <a:ea typeface="Lato Light"/>
                          <a:cs typeface="Lato Light"/>
                          <a:sym typeface="Lato Light"/>
                        </a:rPr>
                        <a:t>, C</a:t>
                      </a:r>
                      <a:r>
                        <a:rPr baseline="-25000" lang="en" sz="900">
                          <a:solidFill>
                            <a:schemeClr val="dk1"/>
                          </a:solidFill>
                          <a:latin typeface="Lato Light"/>
                          <a:ea typeface="Lato Light"/>
                          <a:cs typeface="Lato Light"/>
                          <a:sym typeface="Lato Light"/>
                        </a:rPr>
                        <a:t>m</a:t>
                      </a:r>
                      <a:r>
                        <a:rPr lang="en" sz="900">
                          <a:solidFill>
                            <a:schemeClr val="dk1"/>
                          </a:solidFill>
                          <a:latin typeface="Lato Light"/>
                          <a:ea typeface="Lato Light"/>
                          <a:cs typeface="Lato Light"/>
                          <a:sym typeface="Lato Light"/>
                        </a:rPr>
                        <a:t> follow design changes car to car?</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900">
                          <a:solidFill>
                            <a:schemeClr val="dk1"/>
                          </a:solidFill>
                          <a:latin typeface="Lato Light"/>
                          <a:ea typeface="Lato Light"/>
                          <a:cs typeface="Lato Light"/>
                          <a:sym typeface="Lato Light"/>
                        </a:rPr>
                        <a:t>Drag → range; lift balance → handling</a:t>
                      </a:r>
                      <a:endParaRPr sz="900">
                        <a:latin typeface="Lato Light"/>
                        <a:ea typeface="Lato Light"/>
                        <a:cs typeface="Lato Light"/>
                        <a:sym typeface="Lato Light"/>
                      </a:endParaRPr>
                    </a:p>
                  </a:txBody>
                  <a:tcPr marT="91425" marB="91425" marR="91425" marL="91425">
                    <a:lnL cap="flat" cmpd="sng" w="9525">
                      <a:solidFill>
                        <a:srgbClr val="E2E4ED">
                          <a:alpha val="0"/>
                        </a:srgbClr>
                      </a:solidFill>
                      <a:prstDash val="solid"/>
                      <a:round/>
                      <a:headEnd len="sm" w="sm" type="none"/>
                      <a:tailEnd len="sm" w="sm" type="none"/>
                    </a:lnL>
                    <a:lnR cap="flat" cmpd="sng" w="9525">
                      <a:solidFill>
                        <a:srgbClr val="E2E4ED">
                          <a:alpha val="0"/>
                        </a:srgbClr>
                      </a:solidFill>
                      <a:prstDash val="solid"/>
                      <a:round/>
                      <a:headEnd len="sm" w="sm" type="none"/>
                      <a:tailEnd len="sm" w="sm" type="none"/>
                    </a:lnR>
                    <a:lnT cap="flat" cmpd="sng" w="9525">
                      <a:solidFill>
                        <a:srgbClr val="E2E4ED"/>
                      </a:solidFill>
                      <a:prstDash val="solid"/>
                      <a:round/>
                      <a:headEnd len="sm" w="sm" type="none"/>
                      <a:tailEnd len="sm" w="sm" type="none"/>
                    </a:lnT>
                    <a:lnB cap="flat" cmpd="sng" w="9525">
                      <a:solidFill>
                        <a:srgbClr val="E2E4ED"/>
                      </a:solidFill>
                      <a:prstDash val="solid"/>
                      <a:round/>
                      <a:headEnd len="sm" w="sm" type="none"/>
                      <a:tailEnd len="sm" w="sm" type="none"/>
                    </a:lnB>
                  </a:tcPr>
                </a:tc>
              </a:tr>
            </a:tbl>
          </a:graphicData>
        </a:graphic>
      </p:graphicFrame>
      <p:pic>
        <p:nvPicPr>
          <p:cNvPr id="318" name="Google Shape;318;p33" title="download-2.png"/>
          <p:cNvPicPr preferRelativeResize="0"/>
          <p:nvPr/>
        </p:nvPicPr>
        <p:blipFill>
          <a:blip r:embed="rId4">
            <a:alphaModFix/>
          </a:blip>
          <a:stretch>
            <a:fillRect/>
          </a:stretch>
        </p:blipFill>
        <p:spPr>
          <a:xfrm>
            <a:off x="520025" y="2825623"/>
            <a:ext cx="3336824" cy="2224575"/>
          </a:xfrm>
          <a:prstGeom prst="rect">
            <a:avLst/>
          </a:prstGeom>
          <a:noFill/>
          <a:ln>
            <a:noFill/>
          </a:ln>
        </p:spPr>
      </p:pic>
      <p:pic>
        <p:nvPicPr>
          <p:cNvPr id="319" name="Google Shape;319;p33" title="image (3).png"/>
          <p:cNvPicPr preferRelativeResize="0"/>
          <p:nvPr/>
        </p:nvPicPr>
        <p:blipFill>
          <a:blip r:embed="rId5">
            <a:alphaModFix/>
          </a:blip>
          <a:stretch>
            <a:fillRect/>
          </a:stretch>
        </p:blipFill>
        <p:spPr>
          <a:xfrm>
            <a:off x="4007123" y="2782325"/>
            <a:ext cx="4404501" cy="2224575"/>
          </a:xfrm>
          <a:prstGeom prst="rect">
            <a:avLst/>
          </a:prstGeom>
          <a:noFill/>
          <a:ln>
            <a:noFill/>
          </a:ln>
        </p:spPr>
      </p:pic>
      <p:pic>
        <p:nvPicPr>
          <p:cNvPr id="320" name="Google Shape;320;p33" title="Screenshot 2026-10-07 at 15.58.14.png"/>
          <p:cNvPicPr preferRelativeResize="0"/>
          <p:nvPr/>
        </p:nvPicPr>
        <p:blipFill>
          <a:blip r:embed="rId6">
            <a:alphaModFix/>
          </a:blip>
          <a:stretch>
            <a:fillRect/>
          </a:stretch>
        </p:blipFill>
        <p:spPr>
          <a:xfrm>
            <a:off x="4025166" y="2782325"/>
            <a:ext cx="4368407" cy="22245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34"/>
          <p:cNvSpPr/>
          <p:nvPr/>
        </p:nvSpPr>
        <p:spPr>
          <a:xfrm>
            <a:off x="411480" y="228600"/>
            <a:ext cx="83211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A1E81"/>
              </a:buClr>
              <a:buSzPts val="2100"/>
              <a:buFont typeface="Ubuntu"/>
              <a:buNone/>
            </a:pPr>
            <a:r>
              <a:rPr lang="en" sz="2100">
                <a:solidFill>
                  <a:srgbClr val="BA1E81"/>
                </a:solidFill>
                <a:latin typeface="Ubuntu Light"/>
                <a:ea typeface="Ubuntu Light"/>
                <a:cs typeface="Ubuntu Light"/>
                <a:sym typeface="Ubuntu Light"/>
              </a:rPr>
              <a:t>Takeaways</a:t>
            </a:r>
            <a:endParaRPr i="0" sz="2100" u="none" cap="none" strike="noStrike">
              <a:solidFill>
                <a:schemeClr val="dk1"/>
              </a:solidFill>
              <a:latin typeface="Ubuntu Light"/>
              <a:ea typeface="Ubuntu Light"/>
              <a:cs typeface="Ubuntu Light"/>
              <a:sym typeface="Ubuntu Light"/>
            </a:endParaRPr>
          </a:p>
        </p:txBody>
      </p:sp>
      <p:pic>
        <p:nvPicPr>
          <p:cNvPr descr="preencoded.png" id="327" name="Google Shape;327;p34"/>
          <p:cNvPicPr preferRelativeResize="0"/>
          <p:nvPr/>
        </p:nvPicPr>
        <p:blipFill rotWithShape="1">
          <a:blip r:embed="rId4">
            <a:alphaModFix/>
          </a:blip>
          <a:srcRect b="0" l="0" r="0" t="0"/>
          <a:stretch/>
        </p:blipFill>
        <p:spPr>
          <a:xfrm>
            <a:off x="7662672" y="4773168"/>
            <a:ext cx="1234440" cy="228600"/>
          </a:xfrm>
          <a:prstGeom prst="rect">
            <a:avLst/>
          </a:prstGeom>
          <a:noFill/>
          <a:ln>
            <a:noFill/>
          </a:ln>
        </p:spPr>
      </p:pic>
      <p:sp>
        <p:nvSpPr>
          <p:cNvPr id="328" name="Google Shape;328;p34"/>
          <p:cNvSpPr/>
          <p:nvPr/>
        </p:nvSpPr>
        <p:spPr>
          <a:xfrm>
            <a:off x="411475" y="861200"/>
            <a:ext cx="8412600" cy="3803700"/>
          </a:xfrm>
          <a:prstGeom prst="rect">
            <a:avLst/>
          </a:prstGeom>
          <a:noFill/>
          <a:ln>
            <a:noFill/>
          </a:ln>
        </p:spPr>
        <p:txBody>
          <a:bodyPr anchorCtr="0" anchor="t" bIns="45700" lIns="91425" spcFirstLastPara="1" rIns="91425" wrap="square" tIns="45700">
            <a:noAutofit/>
          </a:bodyPr>
          <a:lstStyle/>
          <a:p>
            <a:pPr indent="-304800" lvl="0" marL="457200" rtl="0" algn="l">
              <a:lnSpc>
                <a:spcPct val="150000"/>
              </a:lnSpc>
              <a:spcBef>
                <a:spcPts val="0"/>
              </a:spcBef>
              <a:spcAft>
                <a:spcPts val="0"/>
              </a:spcAft>
              <a:buClr>
                <a:srgbClr val="262626"/>
              </a:buClr>
              <a:buSzPts val="1200"/>
              <a:buFont typeface="Lato Light"/>
              <a:buAutoNum type="arabicPeriod"/>
            </a:pPr>
            <a:r>
              <a:rPr lang="en" sz="1200">
                <a:solidFill>
                  <a:srgbClr val="262626"/>
                </a:solidFill>
                <a:latin typeface="Lato Light"/>
                <a:ea typeface="Lato Light"/>
                <a:cs typeface="Lato Light"/>
                <a:sym typeface="Lato Light"/>
              </a:rPr>
              <a:t>Physics can go into the loss, the constraints, or the architecture (the architecture route scales best)</a:t>
            </a:r>
            <a:endParaRPr sz="1200">
              <a:solidFill>
                <a:srgbClr val="262626"/>
              </a:solidFill>
              <a:latin typeface="Lato Light"/>
              <a:ea typeface="Lato Light"/>
              <a:cs typeface="Lato Light"/>
              <a:sym typeface="Lato Light"/>
            </a:endParaRPr>
          </a:p>
          <a:p>
            <a:pPr indent="-304800" lvl="0" marL="457200" rtl="0" algn="l">
              <a:lnSpc>
                <a:spcPct val="150000"/>
              </a:lnSpc>
              <a:spcBef>
                <a:spcPts val="0"/>
              </a:spcBef>
              <a:spcAft>
                <a:spcPts val="0"/>
              </a:spcAft>
              <a:buClr>
                <a:srgbClr val="262626"/>
              </a:buClr>
              <a:buSzPts val="1200"/>
              <a:buFont typeface="Lato Light"/>
              <a:buAutoNum type="arabicPeriod"/>
            </a:pPr>
            <a:r>
              <a:rPr lang="en" sz="1200">
                <a:solidFill>
                  <a:srgbClr val="262626"/>
                </a:solidFill>
                <a:latin typeface="Lato Light"/>
                <a:ea typeface="Lato Light"/>
                <a:cs typeface="Lato Light"/>
                <a:sym typeface="Lato Light"/>
              </a:rPr>
              <a:t>Neural operators learn solvers, not solutions</a:t>
            </a:r>
            <a:endParaRPr sz="1200">
              <a:solidFill>
                <a:srgbClr val="262626"/>
              </a:solidFill>
              <a:latin typeface="Lato Light"/>
              <a:ea typeface="Lato Light"/>
              <a:cs typeface="Lato Light"/>
              <a:sym typeface="Lato Light"/>
            </a:endParaRPr>
          </a:p>
          <a:p>
            <a:pPr indent="-304800" lvl="0" marL="457200" rtl="0" algn="l">
              <a:lnSpc>
                <a:spcPct val="150000"/>
              </a:lnSpc>
              <a:spcBef>
                <a:spcPts val="0"/>
              </a:spcBef>
              <a:spcAft>
                <a:spcPts val="0"/>
              </a:spcAft>
              <a:buClr>
                <a:srgbClr val="262626"/>
              </a:buClr>
              <a:buSzPts val="1200"/>
              <a:buFont typeface="Lato Light"/>
              <a:buAutoNum type="arabicPeriod"/>
            </a:pPr>
            <a:r>
              <a:rPr lang="en" sz="1200">
                <a:solidFill>
                  <a:srgbClr val="262626"/>
                </a:solidFill>
                <a:latin typeface="Lato Light"/>
                <a:ea typeface="Lato Light"/>
                <a:cs typeface="Lato Light"/>
                <a:sym typeface="Lato Light"/>
              </a:rPr>
              <a:t>Both global reach and local resolution are needed on real-world meshes</a:t>
            </a:r>
            <a:endParaRPr sz="1200">
              <a:solidFill>
                <a:srgbClr val="262626"/>
              </a:solidFill>
              <a:latin typeface="Lato Light"/>
              <a:ea typeface="Lato Light"/>
              <a:cs typeface="Lato Light"/>
              <a:sym typeface="Lato Light"/>
            </a:endParaRPr>
          </a:p>
          <a:p>
            <a:pPr indent="-304800" lvl="0" marL="457200" rtl="0" algn="l">
              <a:lnSpc>
                <a:spcPct val="150000"/>
              </a:lnSpc>
              <a:spcBef>
                <a:spcPts val="0"/>
              </a:spcBef>
              <a:spcAft>
                <a:spcPts val="0"/>
              </a:spcAft>
              <a:buClr>
                <a:srgbClr val="262626"/>
              </a:buClr>
              <a:buSzPts val="1200"/>
              <a:buFont typeface="Lato Light"/>
              <a:buAutoNum type="arabicPeriod"/>
            </a:pPr>
            <a:r>
              <a:rPr lang="en" sz="1200">
                <a:solidFill>
                  <a:srgbClr val="262626"/>
                </a:solidFill>
                <a:latin typeface="Lato Light"/>
                <a:ea typeface="Lato Light"/>
                <a:cs typeface="Lato Light"/>
                <a:sym typeface="Lato Light"/>
              </a:rPr>
              <a:t>Validate on what engineers care about</a:t>
            </a:r>
            <a:r>
              <a:rPr lang="en" sz="1200">
                <a:solidFill>
                  <a:srgbClr val="262626"/>
                </a:solidFill>
                <a:latin typeface="Lato"/>
                <a:ea typeface="Lato"/>
                <a:cs typeface="Lato"/>
                <a:sym typeface="Lato"/>
              </a:rPr>
              <a:t>:</a:t>
            </a:r>
            <a:r>
              <a:rPr lang="en" sz="1200">
                <a:solidFill>
                  <a:srgbClr val="262626"/>
                </a:solidFill>
                <a:latin typeface="Lato Light"/>
                <a:ea typeface="Lato Light"/>
                <a:cs typeface="Lato Light"/>
                <a:sym typeface="Lato Light"/>
              </a:rPr>
              <a:t> forces, profiles, not bulk error alone.</a:t>
            </a:r>
            <a:endParaRPr sz="12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None/>
            </a:pPr>
            <a:r>
              <a:t/>
            </a:r>
            <a:endParaRPr sz="12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None/>
            </a:pPr>
            <a:r>
              <a:rPr lang="en" sz="1200">
                <a:solidFill>
                  <a:srgbClr val="262626"/>
                </a:solidFill>
                <a:latin typeface="Lato Light"/>
                <a:ea typeface="Lato Light"/>
                <a:cs typeface="Lato Light"/>
                <a:sym typeface="Lato Light"/>
              </a:rPr>
              <a:t>Many successful SciML methods are inspired by what made solvers great (</a:t>
            </a:r>
            <a:r>
              <a:rPr lang="en" sz="1200">
                <a:solidFill>
                  <a:srgbClr val="262626"/>
                </a:solidFill>
                <a:latin typeface="Lato Light"/>
                <a:ea typeface="Lato Light"/>
                <a:cs typeface="Lato Light"/>
                <a:sym typeface="Lato Light"/>
              </a:rPr>
              <a:t>RWR</a:t>
            </a:r>
            <a:r>
              <a:rPr lang="en" sz="1200">
                <a:solidFill>
                  <a:srgbClr val="262626"/>
                </a:solidFill>
                <a:latin typeface="Lato Light"/>
                <a:ea typeface="Lato Light"/>
                <a:cs typeface="Lato Light"/>
                <a:sym typeface="Lato Light"/>
              </a:rPr>
              <a:t> = multigrid-inspired</a:t>
            </a:r>
            <a:r>
              <a:rPr lang="en" sz="1200">
                <a:solidFill>
                  <a:srgbClr val="262626"/>
                </a:solidFill>
                <a:latin typeface="Lato Light"/>
                <a:ea typeface="Lato Light"/>
                <a:cs typeface="Lato Light"/>
                <a:sym typeface="Lato Light"/>
              </a:rPr>
              <a:t>)</a:t>
            </a:r>
            <a:endParaRPr sz="12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None/>
            </a:pPr>
            <a:r>
              <a:t/>
            </a:r>
            <a:endParaRPr sz="12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None/>
            </a:pPr>
            <a:r>
              <a:rPr lang="en" sz="1200">
                <a:solidFill>
                  <a:srgbClr val="262626"/>
                </a:solidFill>
                <a:latin typeface="Lato Light"/>
                <a:ea typeface="Lato Light"/>
                <a:cs typeface="Lato Light"/>
                <a:sym typeface="Lato Light"/>
              </a:rPr>
              <a:t>Next in this session:</a:t>
            </a:r>
            <a:endParaRPr sz="1200">
              <a:solidFill>
                <a:srgbClr val="262626"/>
              </a:solidFill>
              <a:latin typeface="Lato Light"/>
              <a:ea typeface="Lato Light"/>
              <a:cs typeface="Lato Light"/>
              <a:sym typeface="Lato Light"/>
            </a:endParaRPr>
          </a:p>
          <a:p>
            <a:pPr indent="0" lvl="0" marL="0" rtl="0" algn="l">
              <a:lnSpc>
                <a:spcPct val="150000"/>
              </a:lnSpc>
              <a:spcBef>
                <a:spcPts val="0"/>
              </a:spcBef>
              <a:spcAft>
                <a:spcPts val="0"/>
              </a:spcAft>
              <a:buNone/>
            </a:pPr>
            <a:r>
              <a:rPr lang="en" sz="1200">
                <a:solidFill>
                  <a:srgbClr val="262626"/>
                </a:solidFill>
                <a:latin typeface="Lato Light"/>
                <a:ea typeface="Lato Light"/>
                <a:cs typeface="Lato Light"/>
                <a:sym typeface="Lato Light"/>
              </a:rPr>
              <a:t>⚡D</a:t>
            </a:r>
            <a:r>
              <a:rPr lang="en" sz="1200">
                <a:solidFill>
                  <a:srgbClr val="262626"/>
                </a:solidFill>
                <a:latin typeface="Lato Light"/>
                <a:ea typeface="Lato Light"/>
                <a:cs typeface="Lato Light"/>
                <a:sym typeface="Lato Light"/>
              </a:rPr>
              <a:t>ifferentiable electromagnetics, learning inside the solver (</a:t>
            </a:r>
            <a:r>
              <a:rPr lang="en" sz="1200">
                <a:solidFill>
                  <a:srgbClr val="262626"/>
                </a:solidFill>
                <a:latin typeface="Lato Light"/>
                <a:ea typeface="Lato Light"/>
                <a:cs typeface="Lato Light"/>
                <a:sym typeface="Lato Light"/>
              </a:rPr>
              <a:t>Niels)</a:t>
            </a:r>
            <a:br>
              <a:rPr lang="en" sz="1200">
                <a:solidFill>
                  <a:srgbClr val="262626"/>
                </a:solidFill>
                <a:latin typeface="Lato Light"/>
                <a:ea typeface="Lato Light"/>
                <a:cs typeface="Lato Light"/>
                <a:sym typeface="Lato Light"/>
              </a:rPr>
            </a:br>
            <a:r>
              <a:rPr lang="en" sz="1200">
                <a:solidFill>
                  <a:srgbClr val="262626"/>
                </a:solidFill>
                <a:latin typeface="Lato Light"/>
                <a:ea typeface="Lato Light"/>
                <a:cs typeface="Lato Light"/>
                <a:sym typeface="Lato Light"/>
              </a:rPr>
              <a:t>⚡S</a:t>
            </a:r>
            <a:r>
              <a:rPr lang="en" sz="1200">
                <a:solidFill>
                  <a:srgbClr val="262626"/>
                </a:solidFill>
                <a:latin typeface="Lato Light"/>
                <a:ea typeface="Lato Light"/>
                <a:cs typeface="Lato Light"/>
                <a:sym typeface="Lato Light"/>
              </a:rPr>
              <a:t>ensing with PINNs, the loss route (</a:t>
            </a:r>
            <a:r>
              <a:rPr lang="en" sz="1200">
                <a:solidFill>
                  <a:srgbClr val="262626"/>
                </a:solidFill>
                <a:latin typeface="Lato Light"/>
                <a:ea typeface="Lato Light"/>
                <a:cs typeface="Lato Light"/>
                <a:sym typeface="Lato Light"/>
              </a:rPr>
              <a:t>Jakob)</a:t>
            </a:r>
            <a:endParaRPr sz="1200">
              <a:solidFill>
                <a:srgbClr val="262626"/>
              </a:solidFill>
              <a:latin typeface="Lato Light"/>
              <a:ea typeface="Lato Light"/>
              <a:cs typeface="Lato Light"/>
              <a:sym typeface="Lato Light"/>
            </a:endParaRPr>
          </a:p>
        </p:txBody>
      </p:sp>
      <p:pic>
        <p:nvPicPr>
          <p:cNvPr id="329" name="Google Shape;329;p34" title="D3A_logo_SORT.png"/>
          <p:cNvPicPr preferRelativeResize="0"/>
          <p:nvPr/>
        </p:nvPicPr>
        <p:blipFill>
          <a:blip r:embed="rId5">
            <a:alphaModFix/>
          </a:blip>
          <a:stretch>
            <a:fillRect/>
          </a:stretch>
        </p:blipFill>
        <p:spPr>
          <a:xfrm>
            <a:off x="307250" y="4739650"/>
            <a:ext cx="406753" cy="22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avin go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